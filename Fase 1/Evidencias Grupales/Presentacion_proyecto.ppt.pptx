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70" r:id="rId12"/>
    <p:sldId id="271" r:id="rId13"/>
    <p:sldId id="272" r:id="rId14"/>
    <p:sldId id="273" r:id="rId15"/>
    <p:sldId id="274" r:id="rId16"/>
    <p:sldId id="275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i61E+3cokLNf/MbsHpKbV1Qz5x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2D085DF-3E6F-4927-A1E1-BBA965F75032}">
  <a:tblStyle styleId="{A2D085DF-3E6F-4927-A1E1-BBA965F7503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0AF21C-0DB7-47DC-A215-251A231774FC}" type="doc">
      <dgm:prSet loTypeId="urn:microsoft.com/office/officeart/2018/2/layout/IconLabelList" loCatId="icon" qsTypeId="urn:microsoft.com/office/officeart/2005/8/quickstyle/simple1#82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21017E9-8034-498C-A866-CD881C820011}">
      <dgm:prSet custT="1"/>
      <dgm:spPr/>
      <dgm:t>
        <a:bodyPr/>
        <a:lstStyle/>
        <a:p>
          <a:r>
            <a:rPr lang="es-CL" sz="1400" b="1" dirty="0"/>
            <a:t>Lenguaje &amp; Back-</a:t>
          </a:r>
          <a:r>
            <a:rPr lang="es-CL" sz="1400" b="1" dirty="0" err="1"/>
            <a:t>end</a:t>
          </a:r>
          <a:r>
            <a:rPr lang="es-CL" sz="1400" b="1" dirty="0"/>
            <a:t>:</a:t>
          </a:r>
          <a:r>
            <a:rPr lang="es-CL" sz="1400" dirty="0"/>
            <a:t> Java con Framework Spring Boot y JSF para lógica de negocio modular y mantenible. </a:t>
          </a:r>
          <a:endParaRPr lang="en-US" sz="1400" dirty="0"/>
        </a:p>
      </dgm:t>
    </dgm:pt>
    <dgm:pt modelId="{4292FFEA-5896-461C-8591-0A94F5817EB5}" type="parTrans" cxnId="{3652F519-BAEA-459C-885E-20DC8357F359}">
      <dgm:prSet/>
      <dgm:spPr/>
      <dgm:t>
        <a:bodyPr/>
        <a:lstStyle/>
        <a:p>
          <a:endParaRPr lang="en-US"/>
        </a:p>
      </dgm:t>
    </dgm:pt>
    <dgm:pt modelId="{2A0B9208-82EF-40C6-8F34-9AF0724FA247}" type="sibTrans" cxnId="{3652F519-BAEA-459C-885E-20DC8357F359}">
      <dgm:prSet/>
      <dgm:spPr/>
      <dgm:t>
        <a:bodyPr/>
        <a:lstStyle/>
        <a:p>
          <a:endParaRPr lang="en-US"/>
        </a:p>
      </dgm:t>
    </dgm:pt>
    <dgm:pt modelId="{2CD31AED-94E3-48D8-B38B-E5B91EFA1086}">
      <dgm:prSet custT="1"/>
      <dgm:spPr/>
      <dgm:t>
        <a:bodyPr/>
        <a:lstStyle/>
        <a:p>
          <a:r>
            <a:rPr lang="es-CL" sz="1400" b="1" dirty="0"/>
            <a:t>Base de Datos:</a:t>
          </a:r>
          <a:r>
            <a:rPr lang="es-CL" sz="1400" dirty="0"/>
            <a:t> PostgreSQL para el modelo relacional, transacciones y persistencia. </a:t>
          </a:r>
          <a:endParaRPr lang="en-US" sz="1400" dirty="0"/>
        </a:p>
      </dgm:t>
    </dgm:pt>
    <dgm:pt modelId="{739EC56A-D92C-4ED2-AEAD-A1FA454AD98A}" type="parTrans" cxnId="{2C2C74B7-4DE9-446A-8C15-EB482C80D08C}">
      <dgm:prSet/>
      <dgm:spPr/>
      <dgm:t>
        <a:bodyPr/>
        <a:lstStyle/>
        <a:p>
          <a:endParaRPr lang="en-US"/>
        </a:p>
      </dgm:t>
    </dgm:pt>
    <dgm:pt modelId="{2CACFDE7-A8A9-4CFF-8F1E-48269E34109A}" type="sibTrans" cxnId="{2C2C74B7-4DE9-446A-8C15-EB482C80D08C}">
      <dgm:prSet/>
      <dgm:spPr/>
      <dgm:t>
        <a:bodyPr/>
        <a:lstStyle/>
        <a:p>
          <a:endParaRPr lang="en-US"/>
        </a:p>
      </dgm:t>
    </dgm:pt>
    <dgm:pt modelId="{3BBC3F17-776E-4F99-8F39-91AA16590E01}">
      <dgm:prSet custT="1"/>
      <dgm:spPr/>
      <dgm:t>
        <a:bodyPr/>
        <a:lstStyle/>
        <a:p>
          <a:r>
            <a:rPr lang="es-CL" sz="1400" b="1" dirty="0"/>
            <a:t>Protocolos &amp; Arquitectura:</a:t>
          </a:r>
          <a:r>
            <a:rPr lang="es-CL" sz="1400" dirty="0"/>
            <a:t> Servicios API REST con intercambio de datos en JSON bajo protocolo seguro HTTPS. </a:t>
          </a:r>
          <a:endParaRPr lang="en-US" sz="1400" dirty="0"/>
        </a:p>
      </dgm:t>
    </dgm:pt>
    <dgm:pt modelId="{03A68CD7-B04D-4C89-B7C7-04902E391A05}" type="parTrans" cxnId="{E2FE9F40-C0F1-4AD9-8157-FF32E12187F6}">
      <dgm:prSet/>
      <dgm:spPr/>
      <dgm:t>
        <a:bodyPr/>
        <a:lstStyle/>
        <a:p>
          <a:endParaRPr lang="en-US"/>
        </a:p>
      </dgm:t>
    </dgm:pt>
    <dgm:pt modelId="{A7DFEFA6-C343-4696-BB98-22B54D6E75AD}" type="sibTrans" cxnId="{E2FE9F40-C0F1-4AD9-8157-FF32E12187F6}">
      <dgm:prSet/>
      <dgm:spPr/>
      <dgm:t>
        <a:bodyPr/>
        <a:lstStyle/>
        <a:p>
          <a:endParaRPr lang="en-US"/>
        </a:p>
      </dgm:t>
    </dgm:pt>
    <dgm:pt modelId="{32D8D00B-CA8C-4385-BA95-1418277AD163}">
      <dgm:prSet custT="1"/>
      <dgm:spPr/>
      <dgm:t>
        <a:bodyPr/>
        <a:lstStyle/>
        <a:p>
          <a:r>
            <a:rPr lang="es-CL" sz="1400" b="1" dirty="0"/>
            <a:t>Front-</a:t>
          </a:r>
          <a:r>
            <a:rPr lang="es-CL" sz="1400" b="1" dirty="0" err="1"/>
            <a:t>end</a:t>
          </a:r>
          <a:r>
            <a:rPr lang="es-CL" sz="1400" b="1" dirty="0"/>
            <a:t> &amp; Compatibilidad:</a:t>
          </a:r>
          <a:r>
            <a:rPr lang="es-CL" sz="1400" dirty="0"/>
            <a:t> Interfaces web responsivas (HTML5/CSS3/JS) compatibles con Chrome, Firefox, Edge y Safari. </a:t>
          </a:r>
          <a:endParaRPr lang="en-US" sz="1400" dirty="0"/>
        </a:p>
      </dgm:t>
    </dgm:pt>
    <dgm:pt modelId="{47830ED2-9B76-47F9-9552-EDE2D5D01853}" type="parTrans" cxnId="{4522A6CC-94BD-4D8A-8CE6-B1BE5FE87652}">
      <dgm:prSet/>
      <dgm:spPr/>
      <dgm:t>
        <a:bodyPr/>
        <a:lstStyle/>
        <a:p>
          <a:endParaRPr lang="en-US"/>
        </a:p>
      </dgm:t>
    </dgm:pt>
    <dgm:pt modelId="{FC7BFA68-7A2B-45D5-8C35-4564BCD39D0B}" type="sibTrans" cxnId="{4522A6CC-94BD-4D8A-8CE6-B1BE5FE87652}">
      <dgm:prSet/>
      <dgm:spPr/>
      <dgm:t>
        <a:bodyPr/>
        <a:lstStyle/>
        <a:p>
          <a:endParaRPr lang="en-US"/>
        </a:p>
      </dgm:t>
    </dgm:pt>
    <dgm:pt modelId="{EDA6BFBD-1168-4FD5-9D90-5F8113EC223F}">
      <dgm:prSet custT="1"/>
      <dgm:spPr/>
      <dgm:t>
        <a:bodyPr/>
        <a:lstStyle/>
        <a:p>
          <a:r>
            <a:rPr lang="es-CL" sz="1400" b="1" dirty="0"/>
            <a:t>Integraciones:</a:t>
          </a:r>
          <a:r>
            <a:rPr lang="es-CL" sz="1400" dirty="0"/>
            <a:t> Integración mediante API con pasarela Webpay (Transbank) en modo simulado.</a:t>
          </a:r>
          <a:endParaRPr lang="en-US" sz="1400" dirty="0"/>
        </a:p>
      </dgm:t>
    </dgm:pt>
    <dgm:pt modelId="{1752A186-5EE4-484B-8F98-5A61AD2F5CA3}" type="parTrans" cxnId="{B005AAC7-86CC-4AB3-A487-2C0F0261ABB1}">
      <dgm:prSet/>
      <dgm:spPr/>
      <dgm:t>
        <a:bodyPr/>
        <a:lstStyle/>
        <a:p>
          <a:endParaRPr lang="en-US"/>
        </a:p>
      </dgm:t>
    </dgm:pt>
    <dgm:pt modelId="{EA6763B9-EE68-4980-8802-4D55CF17B857}" type="sibTrans" cxnId="{B005AAC7-86CC-4AB3-A487-2C0F0261ABB1}">
      <dgm:prSet/>
      <dgm:spPr/>
      <dgm:t>
        <a:bodyPr/>
        <a:lstStyle/>
        <a:p>
          <a:endParaRPr lang="en-US"/>
        </a:p>
      </dgm:t>
    </dgm:pt>
    <dgm:pt modelId="{6A48A1D8-9E13-48E4-B419-30C98298F10A}" type="pres">
      <dgm:prSet presAssocID="{E80AF21C-0DB7-47DC-A215-251A231774FC}" presName="root" presStyleCnt="0">
        <dgm:presLayoutVars>
          <dgm:dir/>
          <dgm:resizeHandles val="exact"/>
        </dgm:presLayoutVars>
      </dgm:prSet>
      <dgm:spPr/>
    </dgm:pt>
    <dgm:pt modelId="{01AED829-DA0F-4E32-AC53-6C0384C30EAC}" type="pres">
      <dgm:prSet presAssocID="{021017E9-8034-498C-A866-CD881C820011}" presName="compNode" presStyleCnt="0"/>
      <dgm:spPr/>
    </dgm:pt>
    <dgm:pt modelId="{A41A58E3-889C-4B8D-AFB5-AD20CC0E41AB}" type="pres">
      <dgm:prSet presAssocID="{021017E9-8034-498C-A866-CD881C82001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85225572-EE0A-453D-9804-5C492EB8D4E2}" type="pres">
      <dgm:prSet presAssocID="{021017E9-8034-498C-A866-CD881C820011}" presName="spaceRect" presStyleCnt="0"/>
      <dgm:spPr/>
    </dgm:pt>
    <dgm:pt modelId="{F93D2CAC-2FCE-4D51-B28E-753D714910D7}" type="pres">
      <dgm:prSet presAssocID="{021017E9-8034-498C-A866-CD881C820011}" presName="textRect" presStyleLbl="revTx" presStyleIdx="0" presStyleCnt="5">
        <dgm:presLayoutVars>
          <dgm:chMax val="1"/>
          <dgm:chPref val="1"/>
        </dgm:presLayoutVars>
      </dgm:prSet>
      <dgm:spPr/>
    </dgm:pt>
    <dgm:pt modelId="{CE7692E3-AE8B-4E8C-BF5D-8A3CF6915A5E}" type="pres">
      <dgm:prSet presAssocID="{2A0B9208-82EF-40C6-8F34-9AF0724FA247}" presName="sibTrans" presStyleCnt="0"/>
      <dgm:spPr/>
    </dgm:pt>
    <dgm:pt modelId="{A70ACF52-721F-4F5C-89FF-65910C7A06DC}" type="pres">
      <dgm:prSet presAssocID="{2CD31AED-94E3-48D8-B38B-E5B91EFA1086}" presName="compNode" presStyleCnt="0"/>
      <dgm:spPr/>
    </dgm:pt>
    <dgm:pt modelId="{89C4BE65-5CF8-4394-8EC1-880E9AF0785E}" type="pres">
      <dgm:prSet presAssocID="{2CD31AED-94E3-48D8-B38B-E5B91EFA1086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04136892-DBF3-4E70-9EAB-3423CC240E73}" type="pres">
      <dgm:prSet presAssocID="{2CD31AED-94E3-48D8-B38B-E5B91EFA1086}" presName="spaceRect" presStyleCnt="0"/>
      <dgm:spPr/>
    </dgm:pt>
    <dgm:pt modelId="{CF873E79-A7C8-48D2-8D33-B6969888B7DB}" type="pres">
      <dgm:prSet presAssocID="{2CD31AED-94E3-48D8-B38B-E5B91EFA1086}" presName="textRect" presStyleLbl="revTx" presStyleIdx="1" presStyleCnt="5">
        <dgm:presLayoutVars>
          <dgm:chMax val="1"/>
          <dgm:chPref val="1"/>
        </dgm:presLayoutVars>
      </dgm:prSet>
      <dgm:spPr/>
    </dgm:pt>
    <dgm:pt modelId="{225AA650-8853-40D0-95DB-6933558A5DF1}" type="pres">
      <dgm:prSet presAssocID="{2CACFDE7-A8A9-4CFF-8F1E-48269E34109A}" presName="sibTrans" presStyleCnt="0"/>
      <dgm:spPr/>
    </dgm:pt>
    <dgm:pt modelId="{32A33495-4C77-4DB4-A0DF-90D4BE5BFFC4}" type="pres">
      <dgm:prSet presAssocID="{3BBC3F17-776E-4F99-8F39-91AA16590E01}" presName="compNode" presStyleCnt="0"/>
      <dgm:spPr/>
    </dgm:pt>
    <dgm:pt modelId="{E1E0393D-D56D-47C0-B24E-53CB028AD07B}" type="pres">
      <dgm:prSet presAssocID="{3BBC3F17-776E-4F99-8F39-91AA16590E01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7D5D3C66-A856-49DF-A8D2-080B314FEBD2}" type="pres">
      <dgm:prSet presAssocID="{3BBC3F17-776E-4F99-8F39-91AA16590E01}" presName="spaceRect" presStyleCnt="0"/>
      <dgm:spPr/>
    </dgm:pt>
    <dgm:pt modelId="{8CBDB020-1724-4C76-922E-D3106CB438AE}" type="pres">
      <dgm:prSet presAssocID="{3BBC3F17-776E-4F99-8F39-91AA16590E01}" presName="textRect" presStyleLbl="revTx" presStyleIdx="2" presStyleCnt="5">
        <dgm:presLayoutVars>
          <dgm:chMax val="1"/>
          <dgm:chPref val="1"/>
        </dgm:presLayoutVars>
      </dgm:prSet>
      <dgm:spPr/>
    </dgm:pt>
    <dgm:pt modelId="{84FD8121-D652-4BE3-B0E5-689B051F72AD}" type="pres">
      <dgm:prSet presAssocID="{A7DFEFA6-C343-4696-BB98-22B54D6E75AD}" presName="sibTrans" presStyleCnt="0"/>
      <dgm:spPr/>
    </dgm:pt>
    <dgm:pt modelId="{7742DD7B-C715-44E2-B1D6-95F22FE117DE}" type="pres">
      <dgm:prSet presAssocID="{32D8D00B-CA8C-4385-BA95-1418277AD163}" presName="compNode" presStyleCnt="0"/>
      <dgm:spPr/>
    </dgm:pt>
    <dgm:pt modelId="{C7B09875-4704-4DB2-AF36-3385807C2F31}" type="pres">
      <dgm:prSet presAssocID="{32D8D00B-CA8C-4385-BA95-1418277AD163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48E4ECD-1A06-4D4D-A49A-E4FB1C678D40}" type="pres">
      <dgm:prSet presAssocID="{32D8D00B-CA8C-4385-BA95-1418277AD163}" presName="spaceRect" presStyleCnt="0"/>
      <dgm:spPr/>
    </dgm:pt>
    <dgm:pt modelId="{6D5C35B8-0D13-44AD-9917-9825D11CE1C9}" type="pres">
      <dgm:prSet presAssocID="{32D8D00B-CA8C-4385-BA95-1418277AD163}" presName="textRect" presStyleLbl="revTx" presStyleIdx="3" presStyleCnt="5">
        <dgm:presLayoutVars>
          <dgm:chMax val="1"/>
          <dgm:chPref val="1"/>
        </dgm:presLayoutVars>
      </dgm:prSet>
      <dgm:spPr/>
    </dgm:pt>
    <dgm:pt modelId="{B2240DE1-198C-4A2E-B5BD-2DF63EF23F9D}" type="pres">
      <dgm:prSet presAssocID="{FC7BFA68-7A2B-45D5-8C35-4564BCD39D0B}" presName="sibTrans" presStyleCnt="0"/>
      <dgm:spPr/>
    </dgm:pt>
    <dgm:pt modelId="{92C0EA84-CA6B-401D-AABF-45AB0E842663}" type="pres">
      <dgm:prSet presAssocID="{EDA6BFBD-1168-4FD5-9D90-5F8113EC223F}" presName="compNode" presStyleCnt="0"/>
      <dgm:spPr/>
    </dgm:pt>
    <dgm:pt modelId="{A14EA58E-634A-4B12-BD58-D0E14406E879}" type="pres">
      <dgm:prSet presAssocID="{EDA6BFBD-1168-4FD5-9D90-5F8113EC223F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tronauta"/>
        </a:ext>
      </dgm:extLst>
    </dgm:pt>
    <dgm:pt modelId="{31E24D70-3823-4941-85CE-2371C0174A20}" type="pres">
      <dgm:prSet presAssocID="{EDA6BFBD-1168-4FD5-9D90-5F8113EC223F}" presName="spaceRect" presStyleCnt="0"/>
      <dgm:spPr/>
    </dgm:pt>
    <dgm:pt modelId="{7753C764-EE78-487A-82D1-37753B8D478A}" type="pres">
      <dgm:prSet presAssocID="{EDA6BFBD-1168-4FD5-9D90-5F8113EC223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3652F519-BAEA-459C-885E-20DC8357F359}" srcId="{E80AF21C-0DB7-47DC-A215-251A231774FC}" destId="{021017E9-8034-498C-A866-CD881C820011}" srcOrd="0" destOrd="0" parTransId="{4292FFEA-5896-461C-8591-0A94F5817EB5}" sibTransId="{2A0B9208-82EF-40C6-8F34-9AF0724FA247}"/>
    <dgm:cxn modelId="{E2FE9F40-C0F1-4AD9-8157-FF32E12187F6}" srcId="{E80AF21C-0DB7-47DC-A215-251A231774FC}" destId="{3BBC3F17-776E-4F99-8F39-91AA16590E01}" srcOrd="2" destOrd="0" parTransId="{03A68CD7-B04D-4C89-B7C7-04902E391A05}" sibTransId="{A7DFEFA6-C343-4696-BB98-22B54D6E75AD}"/>
    <dgm:cxn modelId="{962CCE5F-CB34-4E78-8DAF-F7D2A124B2C9}" type="presOf" srcId="{32D8D00B-CA8C-4385-BA95-1418277AD163}" destId="{6D5C35B8-0D13-44AD-9917-9825D11CE1C9}" srcOrd="0" destOrd="0" presId="urn:microsoft.com/office/officeart/2018/2/layout/IconLabelList"/>
    <dgm:cxn modelId="{96CE9161-E5D8-43A1-8C40-0F234371FD04}" type="presOf" srcId="{2CD31AED-94E3-48D8-B38B-E5B91EFA1086}" destId="{CF873E79-A7C8-48D2-8D33-B6969888B7DB}" srcOrd="0" destOrd="0" presId="urn:microsoft.com/office/officeart/2018/2/layout/IconLabelList"/>
    <dgm:cxn modelId="{6432A262-0459-474C-AAE4-3C6AC3092ADB}" type="presOf" srcId="{EDA6BFBD-1168-4FD5-9D90-5F8113EC223F}" destId="{7753C764-EE78-487A-82D1-37753B8D478A}" srcOrd="0" destOrd="0" presId="urn:microsoft.com/office/officeart/2018/2/layout/IconLabelList"/>
    <dgm:cxn modelId="{2C2C74B7-4DE9-446A-8C15-EB482C80D08C}" srcId="{E80AF21C-0DB7-47DC-A215-251A231774FC}" destId="{2CD31AED-94E3-48D8-B38B-E5B91EFA1086}" srcOrd="1" destOrd="0" parTransId="{739EC56A-D92C-4ED2-AEAD-A1FA454AD98A}" sibTransId="{2CACFDE7-A8A9-4CFF-8F1E-48269E34109A}"/>
    <dgm:cxn modelId="{B005AAC7-86CC-4AB3-A487-2C0F0261ABB1}" srcId="{E80AF21C-0DB7-47DC-A215-251A231774FC}" destId="{EDA6BFBD-1168-4FD5-9D90-5F8113EC223F}" srcOrd="4" destOrd="0" parTransId="{1752A186-5EE4-484B-8F98-5A61AD2F5CA3}" sibTransId="{EA6763B9-EE68-4980-8802-4D55CF17B857}"/>
    <dgm:cxn modelId="{4522A6CC-94BD-4D8A-8CE6-B1BE5FE87652}" srcId="{E80AF21C-0DB7-47DC-A215-251A231774FC}" destId="{32D8D00B-CA8C-4385-BA95-1418277AD163}" srcOrd="3" destOrd="0" parTransId="{47830ED2-9B76-47F9-9552-EDE2D5D01853}" sibTransId="{FC7BFA68-7A2B-45D5-8C35-4564BCD39D0B}"/>
    <dgm:cxn modelId="{DEFD35D2-32F5-4020-9C2C-F976008EED56}" type="presOf" srcId="{3BBC3F17-776E-4F99-8F39-91AA16590E01}" destId="{8CBDB020-1724-4C76-922E-D3106CB438AE}" srcOrd="0" destOrd="0" presId="urn:microsoft.com/office/officeart/2018/2/layout/IconLabelList"/>
    <dgm:cxn modelId="{162E8ADE-4D5E-4C45-B5B2-548E63E6C311}" type="presOf" srcId="{E80AF21C-0DB7-47DC-A215-251A231774FC}" destId="{6A48A1D8-9E13-48E4-B419-30C98298F10A}" srcOrd="0" destOrd="0" presId="urn:microsoft.com/office/officeart/2018/2/layout/IconLabelList"/>
    <dgm:cxn modelId="{7B8A60EE-E448-4699-8AF8-C3169FBCC682}" type="presOf" srcId="{021017E9-8034-498C-A866-CD881C820011}" destId="{F93D2CAC-2FCE-4D51-B28E-753D714910D7}" srcOrd="0" destOrd="0" presId="urn:microsoft.com/office/officeart/2018/2/layout/IconLabelList"/>
    <dgm:cxn modelId="{3ECA5741-D80F-4408-B425-AB5AD0B6CFA4}" type="presParOf" srcId="{6A48A1D8-9E13-48E4-B419-30C98298F10A}" destId="{01AED829-DA0F-4E32-AC53-6C0384C30EAC}" srcOrd="0" destOrd="0" presId="urn:microsoft.com/office/officeart/2018/2/layout/IconLabelList"/>
    <dgm:cxn modelId="{AADB61E2-3757-4E13-93AB-3E70D23E1B53}" type="presParOf" srcId="{01AED829-DA0F-4E32-AC53-6C0384C30EAC}" destId="{A41A58E3-889C-4B8D-AFB5-AD20CC0E41AB}" srcOrd="0" destOrd="0" presId="urn:microsoft.com/office/officeart/2018/2/layout/IconLabelList"/>
    <dgm:cxn modelId="{CAE98460-7817-4143-8C1C-AEAB16E7B881}" type="presParOf" srcId="{01AED829-DA0F-4E32-AC53-6C0384C30EAC}" destId="{85225572-EE0A-453D-9804-5C492EB8D4E2}" srcOrd="1" destOrd="0" presId="urn:microsoft.com/office/officeart/2018/2/layout/IconLabelList"/>
    <dgm:cxn modelId="{6178DB37-E0C8-47AD-8D9B-697554F2709B}" type="presParOf" srcId="{01AED829-DA0F-4E32-AC53-6C0384C30EAC}" destId="{F93D2CAC-2FCE-4D51-B28E-753D714910D7}" srcOrd="2" destOrd="0" presId="urn:microsoft.com/office/officeart/2018/2/layout/IconLabelList"/>
    <dgm:cxn modelId="{B1856FAD-88C9-4EF5-A8CF-8852142FF993}" type="presParOf" srcId="{6A48A1D8-9E13-48E4-B419-30C98298F10A}" destId="{CE7692E3-AE8B-4E8C-BF5D-8A3CF6915A5E}" srcOrd="1" destOrd="0" presId="urn:microsoft.com/office/officeart/2018/2/layout/IconLabelList"/>
    <dgm:cxn modelId="{BD52014B-1CB4-4EE3-B4F7-6D125F4996BE}" type="presParOf" srcId="{6A48A1D8-9E13-48E4-B419-30C98298F10A}" destId="{A70ACF52-721F-4F5C-89FF-65910C7A06DC}" srcOrd="2" destOrd="0" presId="urn:microsoft.com/office/officeart/2018/2/layout/IconLabelList"/>
    <dgm:cxn modelId="{A803BB35-EA14-400F-8AA9-D2E938AD7048}" type="presParOf" srcId="{A70ACF52-721F-4F5C-89FF-65910C7A06DC}" destId="{89C4BE65-5CF8-4394-8EC1-880E9AF0785E}" srcOrd="0" destOrd="0" presId="urn:microsoft.com/office/officeart/2018/2/layout/IconLabelList"/>
    <dgm:cxn modelId="{2BA830DC-723F-4BA4-BB2D-E5A428CEE8EB}" type="presParOf" srcId="{A70ACF52-721F-4F5C-89FF-65910C7A06DC}" destId="{04136892-DBF3-4E70-9EAB-3423CC240E73}" srcOrd="1" destOrd="0" presId="urn:microsoft.com/office/officeart/2018/2/layout/IconLabelList"/>
    <dgm:cxn modelId="{F795E0C9-6A0A-40ED-BBAF-CA3F8FC9C292}" type="presParOf" srcId="{A70ACF52-721F-4F5C-89FF-65910C7A06DC}" destId="{CF873E79-A7C8-48D2-8D33-B6969888B7DB}" srcOrd="2" destOrd="0" presId="urn:microsoft.com/office/officeart/2018/2/layout/IconLabelList"/>
    <dgm:cxn modelId="{5E131D7C-7170-47DE-A179-85DA36C18A2F}" type="presParOf" srcId="{6A48A1D8-9E13-48E4-B419-30C98298F10A}" destId="{225AA650-8853-40D0-95DB-6933558A5DF1}" srcOrd="3" destOrd="0" presId="urn:microsoft.com/office/officeart/2018/2/layout/IconLabelList"/>
    <dgm:cxn modelId="{56D50BB4-5B8A-495D-AF78-372BA93E3DA7}" type="presParOf" srcId="{6A48A1D8-9E13-48E4-B419-30C98298F10A}" destId="{32A33495-4C77-4DB4-A0DF-90D4BE5BFFC4}" srcOrd="4" destOrd="0" presId="urn:microsoft.com/office/officeart/2018/2/layout/IconLabelList"/>
    <dgm:cxn modelId="{22F3A3EE-9522-412E-904A-CC30A590CE6C}" type="presParOf" srcId="{32A33495-4C77-4DB4-A0DF-90D4BE5BFFC4}" destId="{E1E0393D-D56D-47C0-B24E-53CB028AD07B}" srcOrd="0" destOrd="0" presId="urn:microsoft.com/office/officeart/2018/2/layout/IconLabelList"/>
    <dgm:cxn modelId="{097F553D-00B0-4B8E-AD01-7A7FA5CDF7AB}" type="presParOf" srcId="{32A33495-4C77-4DB4-A0DF-90D4BE5BFFC4}" destId="{7D5D3C66-A856-49DF-A8D2-080B314FEBD2}" srcOrd="1" destOrd="0" presId="urn:microsoft.com/office/officeart/2018/2/layout/IconLabelList"/>
    <dgm:cxn modelId="{4B389241-7C6C-45CB-8247-03A5FA9D65CA}" type="presParOf" srcId="{32A33495-4C77-4DB4-A0DF-90D4BE5BFFC4}" destId="{8CBDB020-1724-4C76-922E-D3106CB438AE}" srcOrd="2" destOrd="0" presId="urn:microsoft.com/office/officeart/2018/2/layout/IconLabelList"/>
    <dgm:cxn modelId="{1DCA8EC5-4935-4FBE-BC5E-571BFBF9886A}" type="presParOf" srcId="{6A48A1D8-9E13-48E4-B419-30C98298F10A}" destId="{84FD8121-D652-4BE3-B0E5-689B051F72AD}" srcOrd="5" destOrd="0" presId="urn:microsoft.com/office/officeart/2018/2/layout/IconLabelList"/>
    <dgm:cxn modelId="{2AC9B796-434B-4A27-9899-3D8F42BF48C6}" type="presParOf" srcId="{6A48A1D8-9E13-48E4-B419-30C98298F10A}" destId="{7742DD7B-C715-44E2-B1D6-95F22FE117DE}" srcOrd="6" destOrd="0" presId="urn:microsoft.com/office/officeart/2018/2/layout/IconLabelList"/>
    <dgm:cxn modelId="{3060F8B3-783B-49A7-8260-3C66544EE28C}" type="presParOf" srcId="{7742DD7B-C715-44E2-B1D6-95F22FE117DE}" destId="{C7B09875-4704-4DB2-AF36-3385807C2F31}" srcOrd="0" destOrd="0" presId="urn:microsoft.com/office/officeart/2018/2/layout/IconLabelList"/>
    <dgm:cxn modelId="{C9D4CBB0-8D06-4BC6-9231-6637B4F2CEE9}" type="presParOf" srcId="{7742DD7B-C715-44E2-B1D6-95F22FE117DE}" destId="{D48E4ECD-1A06-4D4D-A49A-E4FB1C678D40}" srcOrd="1" destOrd="0" presId="urn:microsoft.com/office/officeart/2018/2/layout/IconLabelList"/>
    <dgm:cxn modelId="{891E7FCC-FE39-40B6-A568-F49E3BD016E9}" type="presParOf" srcId="{7742DD7B-C715-44E2-B1D6-95F22FE117DE}" destId="{6D5C35B8-0D13-44AD-9917-9825D11CE1C9}" srcOrd="2" destOrd="0" presId="urn:microsoft.com/office/officeart/2018/2/layout/IconLabelList"/>
    <dgm:cxn modelId="{4B0640FD-A3A8-4354-922B-E2FEBCFF268D}" type="presParOf" srcId="{6A48A1D8-9E13-48E4-B419-30C98298F10A}" destId="{B2240DE1-198C-4A2E-B5BD-2DF63EF23F9D}" srcOrd="7" destOrd="0" presId="urn:microsoft.com/office/officeart/2018/2/layout/IconLabelList"/>
    <dgm:cxn modelId="{A6E7D833-5629-442E-987C-DF388FA3E275}" type="presParOf" srcId="{6A48A1D8-9E13-48E4-B419-30C98298F10A}" destId="{92C0EA84-CA6B-401D-AABF-45AB0E842663}" srcOrd="8" destOrd="0" presId="urn:microsoft.com/office/officeart/2018/2/layout/IconLabelList"/>
    <dgm:cxn modelId="{CA194FB3-CE93-4672-AD38-D60798DDFE1E}" type="presParOf" srcId="{92C0EA84-CA6B-401D-AABF-45AB0E842663}" destId="{A14EA58E-634A-4B12-BD58-D0E14406E879}" srcOrd="0" destOrd="0" presId="urn:microsoft.com/office/officeart/2018/2/layout/IconLabelList"/>
    <dgm:cxn modelId="{16D5A009-9B6B-4DF9-8185-DF71E727AE7E}" type="presParOf" srcId="{92C0EA84-CA6B-401D-AABF-45AB0E842663}" destId="{31E24D70-3823-4941-85CE-2371C0174A20}" srcOrd="1" destOrd="0" presId="urn:microsoft.com/office/officeart/2018/2/layout/IconLabelList"/>
    <dgm:cxn modelId="{415D88B9-BA82-4FBB-9EC3-96B27B3A59F9}" type="presParOf" srcId="{92C0EA84-CA6B-401D-AABF-45AB0E842663}" destId="{7753C764-EE78-487A-82D1-37753B8D478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1A58E3-889C-4B8D-AFB5-AD20CC0E41AB}">
      <dsp:nvSpPr>
        <dsp:cNvPr id="0" name=""/>
        <dsp:cNvSpPr/>
      </dsp:nvSpPr>
      <dsp:spPr>
        <a:xfrm>
          <a:off x="828914" y="750836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3D2CAC-2FCE-4D51-B28E-753D714910D7}">
      <dsp:nvSpPr>
        <dsp:cNvPr id="0" name=""/>
        <dsp:cNvSpPr/>
      </dsp:nvSpPr>
      <dsp:spPr>
        <a:xfrm>
          <a:off x="333914" y="1964590"/>
          <a:ext cx="1800000" cy="1477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 dirty="0"/>
            <a:t>Lenguaje &amp; Back-</a:t>
          </a:r>
          <a:r>
            <a:rPr lang="es-CL" sz="1400" b="1" kern="1200" dirty="0" err="1"/>
            <a:t>end</a:t>
          </a:r>
          <a:r>
            <a:rPr lang="es-CL" sz="1400" b="1" kern="1200" dirty="0"/>
            <a:t>:</a:t>
          </a:r>
          <a:r>
            <a:rPr lang="es-CL" sz="1400" kern="1200" dirty="0"/>
            <a:t> Java con Framework Spring Boot y JSF para lógica de negocio modular y mantenible. </a:t>
          </a:r>
          <a:endParaRPr lang="en-US" sz="1400" kern="1200" dirty="0"/>
        </a:p>
      </dsp:txBody>
      <dsp:txXfrm>
        <a:off x="333914" y="1964590"/>
        <a:ext cx="1800000" cy="1477377"/>
      </dsp:txXfrm>
    </dsp:sp>
    <dsp:sp modelId="{89C4BE65-5CF8-4394-8EC1-880E9AF0785E}">
      <dsp:nvSpPr>
        <dsp:cNvPr id="0" name=""/>
        <dsp:cNvSpPr/>
      </dsp:nvSpPr>
      <dsp:spPr>
        <a:xfrm>
          <a:off x="2943914" y="750836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873E79-A7C8-48D2-8D33-B6969888B7DB}">
      <dsp:nvSpPr>
        <dsp:cNvPr id="0" name=""/>
        <dsp:cNvSpPr/>
      </dsp:nvSpPr>
      <dsp:spPr>
        <a:xfrm>
          <a:off x="2448914" y="1964590"/>
          <a:ext cx="1800000" cy="1477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 dirty="0"/>
            <a:t>Base de Datos:</a:t>
          </a:r>
          <a:r>
            <a:rPr lang="es-CL" sz="1400" kern="1200" dirty="0"/>
            <a:t> PostgreSQL para el modelo relacional, transacciones y persistencia. </a:t>
          </a:r>
          <a:endParaRPr lang="en-US" sz="1400" kern="1200" dirty="0"/>
        </a:p>
      </dsp:txBody>
      <dsp:txXfrm>
        <a:off x="2448914" y="1964590"/>
        <a:ext cx="1800000" cy="1477377"/>
      </dsp:txXfrm>
    </dsp:sp>
    <dsp:sp modelId="{E1E0393D-D56D-47C0-B24E-53CB028AD07B}">
      <dsp:nvSpPr>
        <dsp:cNvPr id="0" name=""/>
        <dsp:cNvSpPr/>
      </dsp:nvSpPr>
      <dsp:spPr>
        <a:xfrm>
          <a:off x="5058914" y="750836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BDB020-1724-4C76-922E-D3106CB438AE}">
      <dsp:nvSpPr>
        <dsp:cNvPr id="0" name=""/>
        <dsp:cNvSpPr/>
      </dsp:nvSpPr>
      <dsp:spPr>
        <a:xfrm>
          <a:off x="4563914" y="1964590"/>
          <a:ext cx="1800000" cy="1477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 dirty="0"/>
            <a:t>Protocolos &amp; Arquitectura:</a:t>
          </a:r>
          <a:r>
            <a:rPr lang="es-CL" sz="1400" kern="1200" dirty="0"/>
            <a:t> Servicios API REST con intercambio de datos en JSON bajo protocolo seguro HTTPS. </a:t>
          </a:r>
          <a:endParaRPr lang="en-US" sz="1400" kern="1200" dirty="0"/>
        </a:p>
      </dsp:txBody>
      <dsp:txXfrm>
        <a:off x="4563914" y="1964590"/>
        <a:ext cx="1800000" cy="1477377"/>
      </dsp:txXfrm>
    </dsp:sp>
    <dsp:sp modelId="{C7B09875-4704-4DB2-AF36-3385807C2F31}">
      <dsp:nvSpPr>
        <dsp:cNvPr id="0" name=""/>
        <dsp:cNvSpPr/>
      </dsp:nvSpPr>
      <dsp:spPr>
        <a:xfrm>
          <a:off x="7173914" y="750836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5C35B8-0D13-44AD-9917-9825D11CE1C9}">
      <dsp:nvSpPr>
        <dsp:cNvPr id="0" name=""/>
        <dsp:cNvSpPr/>
      </dsp:nvSpPr>
      <dsp:spPr>
        <a:xfrm>
          <a:off x="6678914" y="1964590"/>
          <a:ext cx="1800000" cy="1477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 dirty="0"/>
            <a:t>Front-</a:t>
          </a:r>
          <a:r>
            <a:rPr lang="es-CL" sz="1400" b="1" kern="1200" dirty="0" err="1"/>
            <a:t>end</a:t>
          </a:r>
          <a:r>
            <a:rPr lang="es-CL" sz="1400" b="1" kern="1200" dirty="0"/>
            <a:t> &amp; Compatibilidad:</a:t>
          </a:r>
          <a:r>
            <a:rPr lang="es-CL" sz="1400" kern="1200" dirty="0"/>
            <a:t> Interfaces web responsivas (HTML5/CSS3/JS) compatibles con Chrome, Firefox, Edge y Safari. </a:t>
          </a:r>
          <a:endParaRPr lang="en-US" sz="1400" kern="1200" dirty="0"/>
        </a:p>
      </dsp:txBody>
      <dsp:txXfrm>
        <a:off x="6678914" y="1964590"/>
        <a:ext cx="1800000" cy="1477377"/>
      </dsp:txXfrm>
    </dsp:sp>
    <dsp:sp modelId="{A14EA58E-634A-4B12-BD58-D0E14406E879}">
      <dsp:nvSpPr>
        <dsp:cNvPr id="0" name=""/>
        <dsp:cNvSpPr/>
      </dsp:nvSpPr>
      <dsp:spPr>
        <a:xfrm>
          <a:off x="9288914" y="750836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53C764-EE78-487A-82D1-37753B8D478A}">
      <dsp:nvSpPr>
        <dsp:cNvPr id="0" name=""/>
        <dsp:cNvSpPr/>
      </dsp:nvSpPr>
      <dsp:spPr>
        <a:xfrm>
          <a:off x="8793914" y="1964590"/>
          <a:ext cx="1800000" cy="1477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 dirty="0"/>
            <a:t>Integraciones:</a:t>
          </a:r>
          <a:r>
            <a:rPr lang="es-CL" sz="1400" kern="1200" dirty="0"/>
            <a:t> Integración mediante API con pasarela Webpay (Transbank) en modo simulado.</a:t>
          </a:r>
          <a:endParaRPr lang="en-US" sz="1400" kern="1200" dirty="0"/>
        </a:p>
      </dsp:txBody>
      <dsp:txXfrm>
        <a:off x="8793914" y="1964590"/>
        <a:ext cx="1800000" cy="14773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8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CAEA1847-7B1B-E220-29FA-3CC8D91FB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>
            <a:extLst>
              <a:ext uri="{FF2B5EF4-FFF2-40B4-BE49-F238E27FC236}">
                <a16:creationId xmlns:a16="http://schemas.microsoft.com/office/drawing/2014/main" id="{BA0E8895-4A63-E8CF-EE22-B7B73760E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7:notes">
            <a:extLst>
              <a:ext uri="{FF2B5EF4-FFF2-40B4-BE49-F238E27FC236}">
                <a16:creationId xmlns:a16="http://schemas.microsoft.com/office/drawing/2014/main" id="{7A24B55D-80C7-6683-85B3-62710C55D1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96131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24D8501C-1ACF-B9F2-CE5C-9EAF8682B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>
            <a:extLst>
              <a:ext uri="{FF2B5EF4-FFF2-40B4-BE49-F238E27FC236}">
                <a16:creationId xmlns:a16="http://schemas.microsoft.com/office/drawing/2014/main" id="{0B2C2A8C-0738-A1EB-D80F-2F2A3D6A92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:notes">
            <a:extLst>
              <a:ext uri="{FF2B5EF4-FFF2-40B4-BE49-F238E27FC236}">
                <a16:creationId xmlns:a16="http://schemas.microsoft.com/office/drawing/2014/main" id="{779C5C40-94D8-DBD6-0ED8-AB6D19411D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3228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F1567DF4-9C80-D2D1-320F-4C1B4EE8E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>
            <a:extLst>
              <a:ext uri="{FF2B5EF4-FFF2-40B4-BE49-F238E27FC236}">
                <a16:creationId xmlns:a16="http://schemas.microsoft.com/office/drawing/2014/main" id="{EF1F878C-3B95-EDA6-2768-8F3B8763CD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:notes">
            <a:extLst>
              <a:ext uri="{FF2B5EF4-FFF2-40B4-BE49-F238E27FC236}">
                <a16:creationId xmlns:a16="http://schemas.microsoft.com/office/drawing/2014/main" id="{DBD2547A-8DFA-CFFB-7655-292C432178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15803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5FBD53B2-AC07-66C2-4300-EC33EDA96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>
            <a:extLst>
              <a:ext uri="{FF2B5EF4-FFF2-40B4-BE49-F238E27FC236}">
                <a16:creationId xmlns:a16="http://schemas.microsoft.com/office/drawing/2014/main" id="{CAA7E700-B43F-738E-A357-5968BB050A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:notes">
            <a:extLst>
              <a:ext uri="{FF2B5EF4-FFF2-40B4-BE49-F238E27FC236}">
                <a16:creationId xmlns:a16="http://schemas.microsoft.com/office/drawing/2014/main" id="{6A8DD77C-B316-4136-E7D2-2DC498ABDA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79092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8B751745-FAF4-32A7-90FC-7B78846F4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>
            <a:extLst>
              <a:ext uri="{FF2B5EF4-FFF2-40B4-BE49-F238E27FC236}">
                <a16:creationId xmlns:a16="http://schemas.microsoft.com/office/drawing/2014/main" id="{88095617-188D-E5F3-7D6C-90F48E937C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:notes">
            <a:extLst>
              <a:ext uri="{FF2B5EF4-FFF2-40B4-BE49-F238E27FC236}">
                <a16:creationId xmlns:a16="http://schemas.microsoft.com/office/drawing/2014/main" id="{2C9C6949-5646-2591-5A09-E69C08CC87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2282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DDEC28E0-FE0A-F1F6-FDFB-9791373D4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>
            <a:extLst>
              <a:ext uri="{FF2B5EF4-FFF2-40B4-BE49-F238E27FC236}">
                <a16:creationId xmlns:a16="http://schemas.microsoft.com/office/drawing/2014/main" id="{EDB17F95-2BAC-AA06-6891-37E986A0F4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:notes">
            <a:extLst>
              <a:ext uri="{FF2B5EF4-FFF2-40B4-BE49-F238E27FC236}">
                <a16:creationId xmlns:a16="http://schemas.microsoft.com/office/drawing/2014/main" id="{FCB8393A-9EDB-1D8D-57FF-80299DAAD5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57928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C6A95B0C-0FC5-A7A8-AC1E-CF34DB70C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>
            <a:extLst>
              <a:ext uri="{FF2B5EF4-FFF2-40B4-BE49-F238E27FC236}">
                <a16:creationId xmlns:a16="http://schemas.microsoft.com/office/drawing/2014/main" id="{42F6BA8F-324C-2B8B-F78E-82DDC73B3B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:notes">
            <a:extLst>
              <a:ext uri="{FF2B5EF4-FFF2-40B4-BE49-F238E27FC236}">
                <a16:creationId xmlns:a16="http://schemas.microsoft.com/office/drawing/2014/main" id="{DA11DD58-0C01-DAB0-9587-7CBB5716B0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87576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4" name="Google Shape;1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838200" y="4138163"/>
            <a:ext cx="3945555" cy="2106333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lvl="0" algn="l">
              <a:spcBef>
                <a:spcPct val="0"/>
              </a:spcBef>
              <a:buSzPct val="100000"/>
            </a:pPr>
            <a:r>
              <a:rPr 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Presentación </a:t>
            </a:r>
            <a:r>
              <a:rPr lang="en-US" sz="2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Portafolio</a:t>
            </a:r>
            <a:r>
              <a:rPr 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Titulo</a:t>
            </a:r>
            <a:r>
              <a:rPr 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</a:t>
            </a:r>
            <a:br>
              <a:rPr 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“Plataforma Web Integral de </a:t>
            </a:r>
            <a:r>
              <a:rPr lang="en-US" sz="2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Gestión</a:t>
            </a:r>
            <a:r>
              <a:rPr 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Operacional</a:t>
            </a:r>
            <a:r>
              <a:rPr 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2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Comercial</a:t>
            </a:r>
            <a:r>
              <a:rPr 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SkyWay</a:t>
            </a:r>
            <a:r>
              <a:rPr 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”</a:t>
            </a:r>
          </a:p>
        </p:txBody>
      </p:sp>
      <p:pic>
        <p:nvPicPr>
          <p:cNvPr id="3" name="Imagen 2" descr="Elementos y requisitos principales de un aeropuerto - Ingeniería e  instalaciones de telecomunicación y baja tensión">
            <a:extLst>
              <a:ext uri="{FF2B5EF4-FFF2-40B4-BE49-F238E27FC236}">
                <a16:creationId xmlns:a16="http://schemas.microsoft.com/office/drawing/2014/main" id="{974387A8-F836-78B7-BECE-DED3E6373C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90" b="22855"/>
          <a:stretch>
            <a:fillRect/>
          </a:stretch>
        </p:blipFill>
        <p:spPr>
          <a:xfrm>
            <a:off x="-2" y="10"/>
            <a:ext cx="12192002" cy="3428990"/>
          </a:xfrm>
          <a:prstGeom prst="rect">
            <a:avLst/>
          </a:prstGeom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5EC81CC9-EAC3-3907-9268-3A583E3B6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600" y="3401858"/>
            <a:ext cx="12207200" cy="123363"/>
            <a:chOff x="-5025" y="6737718"/>
            <a:chExt cx="12207200" cy="123363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665915B0-4647-B7BB-3CDF-D62A16FCB0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EA416CD1-48B0-ADCA-33F6-A12FBD9EE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5341546" y="4088724"/>
            <a:ext cx="6012254" cy="2171405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Ingeniería </a:t>
            </a:r>
            <a:r>
              <a:rPr lang="en-US" sz="2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Informática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lvl="0" indent="-2286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Escuela de </a:t>
            </a:r>
            <a:r>
              <a:rPr lang="en-US" sz="2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Informática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Telecomunicaciones</a:t>
            </a:r>
          </a:p>
          <a:p>
            <a:pPr marL="0" lvl="0" indent="-2286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2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Sede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Puente Alto</a:t>
            </a:r>
          </a:p>
          <a:p>
            <a:pPr marL="0" lvl="0" indent="-2286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</a:t>
            </a:r>
          </a:p>
          <a:p>
            <a:pPr marL="0" lvl="0" indent="-2286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lvl="0" indent="-2286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Imagen 3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33836579-0A29-B542-7F52-31670A48E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2786" y="5990628"/>
            <a:ext cx="3469486" cy="8673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6" name="Rectangle 10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0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0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9" name="Rectangle 114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Google Shape;90;p2"/>
          <p:cNvSpPr txBox="1"/>
          <p:nvPr/>
        </p:nvSpPr>
        <p:spPr>
          <a:xfrm>
            <a:off x="269508" y="1683756"/>
            <a:ext cx="3445844" cy="253588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0" i="0" u="none" strike="noStrike" kern="1200" cap="none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INTEGRANTES DEL PROYECTO</a:t>
            </a:r>
            <a:endParaRPr lang="en-US" sz="3600" b="0" i="0" u="none" strike="noStrike" kern="1200" cap="none" dirty="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905052" y="1498103"/>
            <a:ext cx="6666833" cy="3958596"/>
            <a:chOff x="0" y="0"/>
            <a:chExt cx="6781017" cy="3415981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6781017" cy="1067494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62952" y="0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t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2100"/>
              </a:pPr>
              <a:r>
                <a:rPr lang="es-MX" sz="1995" b="0" i="0" u="none" strike="noStrike" cap="none" spc="0" dirty="0">
                  <a:solidFill>
                    <a:schemeClr val="bg1"/>
                  </a:solidFill>
                  <a:latin typeface="Calibri"/>
                  <a:ea typeface="Arial"/>
                  <a:cs typeface="Calibri"/>
                  <a:sym typeface="Calibri"/>
                </a:rPr>
                <a:t>Cristóbal Román </a:t>
              </a:r>
              <a:endParaRPr sz="1995" b="0" i="0" u="none" strike="noStrike" cap="none" spc="0" dirty="0">
                <a:solidFill>
                  <a:schemeClr val="bg1"/>
                </a:solidFill>
                <a:latin typeface="Calibri"/>
                <a:ea typeface="Arial"/>
                <a:cs typeface="Calibri"/>
                <a:sym typeface="Calibri"/>
              </a:endParaRPr>
            </a:p>
            <a:p>
              <a:pPr marL="162878" lvl="1" indent="-162878">
                <a:lnSpc>
                  <a:spcPct val="90000"/>
                </a:lnSpc>
                <a:spcBef>
                  <a:spcPts val="698"/>
                </a:spcBef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520" b="0" i="0" u="none" strike="noStrike" cap="none" spc="0" dirty="0">
                  <a:solidFill>
                    <a:schemeClr val="bg1"/>
                  </a:solidFill>
                  <a:latin typeface="Calibri"/>
                  <a:ea typeface="Arial"/>
                  <a:cs typeface="Calibri"/>
                  <a:sym typeface="Calibri"/>
                </a:rPr>
                <a:t>Jefe de Proyecto</a:t>
              </a:r>
              <a:endParaRPr sz="1520" b="0" i="0" u="none" strike="noStrike" cap="none" spc="0" dirty="0">
                <a:solidFill>
                  <a:schemeClr val="bg1"/>
                </a:solidFill>
                <a:latin typeface="Calibri"/>
                <a:ea typeface="Arial"/>
                <a:cs typeface="Calibri"/>
                <a:sym typeface="Calibri"/>
              </a:endParaRPr>
            </a:p>
            <a:p>
              <a:pPr marL="162878" lvl="1" indent="-162878">
                <a:lnSpc>
                  <a:spcPct val="90000"/>
                </a:lnSpc>
                <a:spcBef>
                  <a:spcPts val="228"/>
                </a:spcBef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520" b="0" i="0" u="none" strike="noStrike" cap="none" spc="0" dirty="0">
                  <a:solidFill>
                    <a:schemeClr val="bg1"/>
                  </a:solidFill>
                  <a:latin typeface="Calibri"/>
                  <a:ea typeface="Arial"/>
                  <a:cs typeface="Calibri"/>
                  <a:sym typeface="Calibri"/>
                </a:rPr>
                <a:t>Funciones desempeñadas: Acta de constitución, Caso de uso extendido, ERS.</a:t>
              </a:r>
              <a:endParaRPr sz="16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06749" y="106749"/>
              <a:ext cx="1356203" cy="853995"/>
            </a:xfrm>
            <a:prstGeom prst="roundRect">
              <a:avLst>
                <a:gd name="adj" fmla="val 10000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174243"/>
              <a:ext cx="6781017" cy="1067494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462952" y="1174243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t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2100"/>
              </a:pPr>
              <a:r>
                <a:rPr lang="es-MX" sz="1995" b="0" i="0" u="none" strike="noStrike" cap="none" spc="0" dirty="0">
                  <a:solidFill>
                    <a:schemeClr val="bg1"/>
                  </a:solidFill>
                  <a:latin typeface="Calibri"/>
                  <a:ea typeface="Arial"/>
                  <a:cs typeface="Calibri"/>
                  <a:sym typeface="Calibri"/>
                </a:rPr>
                <a:t>Diego Valenzuela</a:t>
              </a:r>
              <a:endParaRPr sz="1995" b="0" i="0" u="none" strike="noStrike" cap="none" spc="0" dirty="0">
                <a:solidFill>
                  <a:schemeClr val="bg1"/>
                </a:solidFill>
                <a:latin typeface="Calibri"/>
                <a:ea typeface="Arial"/>
                <a:cs typeface="Calibri"/>
                <a:sym typeface="Calibri"/>
              </a:endParaRPr>
            </a:p>
            <a:p>
              <a:pPr marL="162878" lvl="1" indent="-162878">
                <a:lnSpc>
                  <a:spcPct val="90000"/>
                </a:lnSpc>
                <a:spcBef>
                  <a:spcPts val="698"/>
                </a:spcBef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520" b="0" i="0" u="none" strike="noStrike" cap="none" spc="0" dirty="0">
                  <a:solidFill>
                    <a:schemeClr val="bg1"/>
                  </a:solidFill>
                  <a:latin typeface="Calibri"/>
                  <a:ea typeface="Arial"/>
                  <a:cs typeface="Calibri"/>
                  <a:sym typeface="Calibri"/>
                </a:rPr>
                <a:t>Desarrollador BD</a:t>
              </a:r>
              <a:endParaRPr sz="1520" b="0" i="0" u="none" strike="noStrike" cap="none" spc="0" dirty="0">
                <a:solidFill>
                  <a:schemeClr val="bg1"/>
                </a:solidFill>
                <a:latin typeface="Calibri"/>
                <a:ea typeface="Arial"/>
                <a:cs typeface="Calibri"/>
                <a:sym typeface="Calibri"/>
              </a:endParaRPr>
            </a:p>
            <a:p>
              <a:pPr marL="162878" lvl="1" indent="-162878">
                <a:lnSpc>
                  <a:spcPct val="90000"/>
                </a:lnSpc>
                <a:spcBef>
                  <a:spcPts val="228"/>
                </a:spcBef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520" b="0" i="0" u="none" strike="noStrike" cap="none" spc="0" dirty="0">
                  <a:solidFill>
                    <a:schemeClr val="bg1"/>
                  </a:solidFill>
                  <a:latin typeface="Calibri"/>
                  <a:ea typeface="Arial"/>
                  <a:cs typeface="Calibri"/>
                  <a:sym typeface="Calibri"/>
                </a:rPr>
                <a:t>Funciones desempeñadas: </a:t>
              </a:r>
              <a:r>
                <a:rPr lang="es-MX" sz="1520" b="0" i="0" u="none" strike="noStrike" cap="none" spc="0" dirty="0">
                  <a:solidFill>
                    <a:schemeClr val="bg1"/>
                  </a:solidFill>
                  <a:latin typeface="Calibri"/>
                  <a:ea typeface="Arial"/>
                  <a:cs typeface="Calibri"/>
                  <a:sym typeface="Calibri"/>
                </a:rPr>
                <a:t>Matriz Estructura de descomposición de tareas EDT, Carta Gantt, ERS.</a:t>
              </a:r>
              <a:endParaRPr sz="16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06749" y="1280992"/>
              <a:ext cx="1356203" cy="853995"/>
            </a:xfrm>
            <a:prstGeom prst="roundRect">
              <a:avLst>
                <a:gd name="adj" fmla="val 10000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348487"/>
              <a:ext cx="6781017" cy="1067494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462952" y="2348487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t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2100"/>
              </a:pPr>
              <a:r>
                <a:rPr lang="es-MX" sz="1995" b="0" i="0" u="none" strike="noStrike" cap="none" spc="0" dirty="0">
                  <a:solidFill>
                    <a:schemeClr val="bg1"/>
                  </a:solidFill>
                  <a:latin typeface="Calibri"/>
                  <a:ea typeface="Arial"/>
                  <a:cs typeface="Calibri"/>
                  <a:sym typeface="Calibri"/>
                </a:rPr>
                <a:t>Renato Ubilla</a:t>
              </a:r>
              <a:endParaRPr sz="133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62878" lvl="1" indent="-162878">
                <a:lnSpc>
                  <a:spcPct val="90000"/>
                </a:lnSpc>
                <a:spcBef>
                  <a:spcPts val="698"/>
                </a:spcBef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520" b="0" i="0" u="none" strike="noStrike" cap="none" spc="0" dirty="0">
                  <a:solidFill>
                    <a:schemeClr val="bg1"/>
                  </a:solidFill>
                  <a:latin typeface="Calibri"/>
                  <a:ea typeface="Arial"/>
                  <a:cs typeface="Calibri"/>
                  <a:sym typeface="Calibri"/>
                </a:rPr>
                <a:t>Analista Programador</a:t>
              </a:r>
              <a:endParaRPr sz="1330" b="0" i="0" u="none" strike="noStrike" cap="none" spc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62878" lvl="1" indent="-162878">
                <a:lnSpc>
                  <a:spcPct val="90000"/>
                </a:lnSpc>
                <a:spcBef>
                  <a:spcPts val="228"/>
                </a:spcBef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520" b="0" i="0" u="none" strike="noStrike" cap="none" spc="0" dirty="0">
                  <a:solidFill>
                    <a:schemeClr val="bg1"/>
                  </a:solidFill>
                  <a:latin typeface="Calibri"/>
                  <a:ea typeface="Arial"/>
                  <a:cs typeface="Calibri"/>
                  <a:sym typeface="Calibri"/>
                </a:rPr>
                <a:t>Funciones desempeñadas: Levantamiento de requerimientos, Mockups, Caso de uso extendido, ERS</a:t>
              </a:r>
              <a:endParaRPr lang="es-CL" sz="16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06749" y="2455236"/>
              <a:ext cx="1356203" cy="853995"/>
            </a:xfrm>
            <a:prstGeom prst="roundRect">
              <a:avLst>
                <a:gd name="adj" fmla="val 10000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Imagen 1" descr="Profile - Free people icons">
            <a:extLst>
              <a:ext uri="{FF2B5EF4-FFF2-40B4-BE49-F238E27FC236}">
                <a16:creationId xmlns:a16="http://schemas.microsoft.com/office/drawing/2014/main" id="{74315889-3B63-F583-365B-54AD930BE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861" y="1621809"/>
            <a:ext cx="989650" cy="989650"/>
          </a:xfrm>
          <a:prstGeom prst="rect">
            <a:avLst/>
          </a:prstGeom>
        </p:spPr>
      </p:pic>
      <p:pic>
        <p:nvPicPr>
          <p:cNvPr id="6" name="Imagen 5" descr="Profile - Free people icons">
            <a:extLst>
              <a:ext uri="{FF2B5EF4-FFF2-40B4-BE49-F238E27FC236}">
                <a16:creationId xmlns:a16="http://schemas.microsoft.com/office/drawing/2014/main" id="{55CD020E-C2FC-D5F0-E293-D42AF8A00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952" y="2982575"/>
            <a:ext cx="989650" cy="989650"/>
          </a:xfrm>
          <a:prstGeom prst="rect">
            <a:avLst/>
          </a:prstGeom>
        </p:spPr>
      </p:pic>
      <p:pic>
        <p:nvPicPr>
          <p:cNvPr id="8" name="Imagen 7" descr="Profile - Free people icons">
            <a:extLst>
              <a:ext uri="{FF2B5EF4-FFF2-40B4-BE49-F238E27FC236}">
                <a16:creationId xmlns:a16="http://schemas.microsoft.com/office/drawing/2014/main" id="{DC7985A2-6F5D-ED4D-C285-97A92EF07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861" y="4356016"/>
            <a:ext cx="989650" cy="989650"/>
          </a:xfrm>
          <a:prstGeom prst="rect">
            <a:avLst/>
          </a:prstGeom>
        </p:spPr>
      </p:pic>
      <p:pic>
        <p:nvPicPr>
          <p:cNvPr id="10" name="Imagen 9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EDEA4316-DD41-4B5D-58DD-14A7FE13C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2786" y="5990628"/>
            <a:ext cx="3469486" cy="8673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dirty="0"/>
              <a:t>Descripción del Proyecto</a:t>
            </a:r>
            <a:endParaRPr dirty="0"/>
          </a:p>
        </p:txBody>
      </p:sp>
      <p:sp>
        <p:nvSpPr>
          <p:cNvPr id="109" name="Google Shape;109;p3"/>
          <p:cNvSpPr/>
          <p:nvPr/>
        </p:nvSpPr>
        <p:spPr>
          <a:xfrm>
            <a:off x="283957" y="2047988"/>
            <a:ext cx="4995965" cy="4351274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/>
            <a:r>
              <a:rPr lang="es-CL" dirty="0"/>
              <a:t>La industria aérea requiere una sincronización precisa y en tiempo real. </a:t>
            </a:r>
            <a:r>
              <a:rPr lang="es-CL" b="1" dirty="0" err="1"/>
              <a:t>SkyWay</a:t>
            </a:r>
            <a:r>
              <a:rPr lang="es-CL" dirty="0"/>
              <a:t> se encuentra en una fase de expansión que le exige modernizar sus canales de atención al cliente y sus herramientas de control operacional interno. </a:t>
            </a:r>
          </a:p>
          <a:p>
            <a:pPr lvl="0" algn="just"/>
            <a:endParaRPr lang="es-CL" dirty="0"/>
          </a:p>
          <a:p>
            <a:r>
              <a:rPr lang="es-CL" dirty="0"/>
              <a:t>Actualmente opera con procesos semiautomatizados y sistemas desconectados. Esto genera: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Silos de información.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Riesgo de duplicidad de reservas (overbooking).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Demoras en la programación y asignación de turnos del personal de vuelo.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Falta de visibilidad centralizada sobre el estado real de los vuelos.</a:t>
            </a:r>
          </a:p>
          <a:p>
            <a:pPr lvl="0" algn="just"/>
            <a:endParaRPr lang="es-CL" sz="1800" b="0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912079" y="2177325"/>
            <a:ext cx="4641292" cy="4092601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s-CL" dirty="0"/>
              <a:t>Desarrollo de una plataforma web integral compuesta por dos frentes interconectados:</a:t>
            </a:r>
          </a:p>
          <a:p>
            <a:endParaRPr lang="es-CL" sz="1800" dirty="0"/>
          </a:p>
          <a:p>
            <a:pPr lvl="0"/>
            <a:r>
              <a:rPr lang="es-CL" b="1" dirty="0"/>
              <a:t>Portal Público (Pasajeros):</a:t>
            </a:r>
            <a:r>
              <a:rPr lang="es-CL" dirty="0"/>
              <a:t> Canal digital para búsqueda y cotización de vuelos, selección dinámica de tarifas y asientos, pago simulado (vía Webpay) y emisión de pases de abordar (</a:t>
            </a:r>
            <a:r>
              <a:rPr lang="es-CL" dirty="0" err="1"/>
              <a:t>check</a:t>
            </a:r>
            <a:r>
              <a:rPr lang="es-CL" dirty="0"/>
              <a:t>-in). </a:t>
            </a:r>
          </a:p>
          <a:p>
            <a:pPr lvl="0"/>
            <a:r>
              <a:rPr lang="es-CL" b="1" dirty="0"/>
              <a:t>Panel de Gestión Interna (Administración):</a:t>
            </a:r>
            <a:r>
              <a:rPr lang="es-CL" dirty="0"/>
              <a:t> Centro de control para administrar la flota, configurar rutas e itinerarios, asignar tripulación validando descansos sin cruces de horario, y monitorear el estado operacional de los vuelos en tiempo real. </a:t>
            </a:r>
          </a:p>
        </p:txBody>
      </p:sp>
      <p:sp>
        <p:nvSpPr>
          <p:cNvPr id="111" name="Google Shape;111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26415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s-CL" sz="1800" dirty="0"/>
              <a:t>Desarrollar una plataforma web integral para la aerolínea </a:t>
            </a:r>
            <a:r>
              <a:rPr lang="es-CL" sz="1800" b="1" dirty="0" err="1"/>
              <a:t>SkyWay</a:t>
            </a:r>
            <a:r>
              <a:rPr lang="es-CL" sz="1800" dirty="0"/>
              <a:t>, que unifique un portal de atención pública a pasajeros con un panel de control operacional interno, optimizando la gestión de reservas, la programación de tripulación y el monitoreo de vuelos en tiempo real.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Implementar el Portal Público para búsqueda de vuelos, selección de asientos, pago simulado y </a:t>
            </a:r>
            <a:r>
              <a:rPr lang="es-CL" dirty="0" err="1"/>
              <a:t>check</a:t>
            </a:r>
            <a:r>
              <a:rPr lang="es-CL" dirty="0"/>
              <a:t>-in con emisión de tarjeta de embarque.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Desarrollar el Panel Administrativo para gestión de flota, rutas, itinerarios y estado operacional de los vuelos.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Automatizar la asignación de tripulación (pilotos y auxiliares) validando disponibilidad previa para evitar cruces de horario.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Centralizar la operación comercial y aeronáutica en una única plataforma modular para evitar overbooking y silos de información.</a:t>
            </a:r>
          </a:p>
        </p:txBody>
      </p:sp>
      <p:sp>
        <p:nvSpPr>
          <p:cNvPr id="118" name="Google Shape;118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152400" y="4009875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2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46542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Google Shape;124;p5"/>
          <p:cNvSpPr txBox="1">
            <a:spLocks noGrp="1"/>
          </p:cNvSpPr>
          <p:nvPr>
            <p:ph type="title"/>
          </p:nvPr>
        </p:nvSpPr>
        <p:spPr>
          <a:xfrm>
            <a:off x="1027177" y="3111366"/>
            <a:ext cx="3006557" cy="635268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90000"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4400"/>
            </a:pPr>
            <a:r>
              <a:rPr lang="en-US" sz="53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Alcances</a:t>
            </a:r>
            <a:endParaRPr lang="en-US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9977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Google Shape;125;p5"/>
          <p:cNvSpPr txBox="1"/>
          <p:nvPr/>
        </p:nvSpPr>
        <p:spPr>
          <a:xfrm>
            <a:off x="5439976" y="850053"/>
            <a:ext cx="5724847" cy="4892379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 lnSpcReduction="10000"/>
          </a:bodyPr>
          <a:lstStyle/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kern="12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Que</a:t>
            </a:r>
            <a:r>
              <a:rPr lang="en-US" sz="2400" b="0" i="0" u="none" strike="noStrike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lang="en-US" sz="2400" b="0" i="0" u="none" strike="noStrike" kern="12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hace</a:t>
            </a:r>
            <a:r>
              <a:rPr lang="en-US" sz="2400" b="0" i="0" u="none" strike="noStrike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el Sistema: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CL" dirty="0"/>
              <a:t>Búsqueda de vuelos por origen, destino, fechas y pasajeros; selección dinámica de asientos y pago simulado vía Webpay.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CL" dirty="0"/>
              <a:t>Check-in en línea (entre 48h y 2h antes del vuelo) con generación de tarjeta de embarque digital/QR.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CL" dirty="0"/>
              <a:t>Gestión administrativa (CRUD) de flota, rutas, itinerarios, tarifas, reservas (PNR), equipaje, reclamos y personal.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CL" dirty="0"/>
              <a:t>Algoritmo de asignación de tripulación con validación automática de descanso mínimo (8 horas) sin solapamiento de turnos.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CL" dirty="0"/>
              <a:t>Centro de notificaciones, tablero operacional en tiempo real y generación de reportes en PDF.</a:t>
            </a:r>
          </a:p>
          <a:p>
            <a:pPr marL="342900" lvl="0" indent="-342900">
              <a:buFont typeface="+mj-lt"/>
              <a:buAutoNum type="arabicPeriod"/>
            </a:pP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  <a:sym typeface="Calibri"/>
            </a:endParaRPr>
          </a:p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Qué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no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hace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: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CL" dirty="0"/>
              <a:t>No procesa pagos reales mediante pasarelas bancarias en producción (se trabaja en entorno simulado).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CL" dirty="0"/>
              <a:t>No se integra con radares de tráfico aéreo ni con sistemas de información meteorológica externos.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CL" dirty="0"/>
              <a:t>No gestiona el mantenimiento físico de motores, inventarios de repuestos ni abastecimiento de combustible.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CL" dirty="0"/>
              <a:t>No incluye aplicaciones móviles nativas (iOS/Android) ni gestión de programas de millas en esta etapa.</a:t>
            </a:r>
          </a:p>
          <a:p>
            <a:pPr marR="0" lv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  <a:sym typeface="Calibri"/>
            </a:endParaRPr>
          </a:p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  <a:sym typeface="Calibri"/>
            </a:endParaRPr>
          </a:p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  <a:sym typeface="Calibri"/>
            </a:endParaRPr>
          </a:p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  <a:sym typeface="Calibri"/>
            </a:endParaRPr>
          </a:p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  <a:sym typeface="Calibri"/>
            </a:endParaRPr>
          </a:p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6" name="Imagen 5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B16C6C0D-EE46-1AB5-099E-36D551229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786" y="5990628"/>
            <a:ext cx="3469486" cy="8673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34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Google Shape;130;p6"/>
          <p:cNvSpPr txBox="1">
            <a:spLocks noGrp="1"/>
          </p:cNvSpPr>
          <p:nvPr>
            <p:ph type="title"/>
          </p:nvPr>
        </p:nvSpPr>
        <p:spPr>
          <a:xfrm>
            <a:off x="1155559" y="637762"/>
            <a:ext cx="2899568" cy="557677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4400"/>
            </a:pPr>
            <a:r>
              <a:rPr lang="en-US" sz="4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Usuarios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3" name="Rectangle 136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909049B9-600B-FA72-D360-076C05011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072089"/>
              </p:ext>
            </p:extLst>
          </p:nvPr>
        </p:nvGraphicFramePr>
        <p:xfrm>
          <a:off x="5173735" y="990954"/>
          <a:ext cx="6497053" cy="4870386"/>
        </p:xfrm>
        <a:graphic>
          <a:graphicData uri="http://schemas.openxmlformats.org/drawingml/2006/table">
            <a:tbl>
              <a:tblPr>
                <a:tableStyleId>{A2D085DF-3E6F-4927-A1E1-BBA965F75032}</a:tableStyleId>
              </a:tblPr>
              <a:tblGrid>
                <a:gridCol w="3760106">
                  <a:extLst>
                    <a:ext uri="{9D8B030D-6E8A-4147-A177-3AD203B41FA5}">
                      <a16:colId xmlns:a16="http://schemas.microsoft.com/office/drawing/2014/main" val="896874283"/>
                    </a:ext>
                  </a:extLst>
                </a:gridCol>
                <a:gridCol w="2736947">
                  <a:extLst>
                    <a:ext uri="{9D8B030D-6E8A-4147-A177-3AD203B41FA5}">
                      <a16:colId xmlns:a16="http://schemas.microsoft.com/office/drawing/2014/main" val="3291299063"/>
                    </a:ext>
                  </a:extLst>
                </a:gridCol>
              </a:tblGrid>
              <a:tr h="508846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80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Perfil de Usuario</a:t>
                      </a:r>
                      <a:endParaRPr lang="es-CL" sz="36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50800" marR="50800" marT="38100" marB="38100" anchor="ctr">
                    <a:solidFill>
                      <a:schemeClr val="accent2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80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Nivel Técnico</a:t>
                      </a:r>
                      <a:endParaRPr lang="es-CL" sz="36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50800" marR="50800" marT="38100" marB="38100" anchor="ctr">
                    <a:solidFill>
                      <a:schemeClr val="accent2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919086"/>
                  </a:ext>
                </a:extLst>
              </a:tr>
              <a:tr h="508846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Pasajero</a:t>
                      </a:r>
                      <a:endParaRPr lang="es-CL" sz="3600">
                        <a:effectLst/>
                      </a:endParaRPr>
                    </a:p>
                  </a:txBody>
                  <a:tcPr marL="50800" marR="50800" marT="38100" marB="38100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Básico</a:t>
                      </a:r>
                      <a:endParaRPr lang="es-CL" sz="3600">
                        <a:effectLst/>
                      </a:endParaRPr>
                    </a:p>
                  </a:txBody>
                  <a:tcPr marL="50800" marR="50800" marT="38100" marB="38100" anchor="ctr"/>
                </a:tc>
                <a:extLst>
                  <a:ext uri="{0D108BD9-81ED-4DB2-BD59-A6C34878D82A}">
                    <a16:rowId xmlns:a16="http://schemas.microsoft.com/office/drawing/2014/main" val="1815711523"/>
                  </a:ext>
                </a:extLst>
              </a:tr>
              <a:tr h="508846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Administrador</a:t>
                      </a:r>
                      <a:endParaRPr lang="es-CL" sz="3600" dirty="0">
                        <a:effectLst/>
                      </a:endParaRPr>
                    </a:p>
                  </a:txBody>
                  <a:tcPr marL="50800" marR="50800" marT="38100" marB="38100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Medio / Alto</a:t>
                      </a:r>
                      <a:endParaRPr lang="es-CL" sz="3600" dirty="0">
                        <a:effectLst/>
                      </a:endParaRPr>
                    </a:p>
                  </a:txBody>
                  <a:tcPr marL="50800" marR="50800" marT="38100" marB="38100" anchor="ctr"/>
                </a:tc>
                <a:extLst>
                  <a:ext uri="{0D108BD9-81ED-4DB2-BD59-A6C34878D82A}">
                    <a16:rowId xmlns:a16="http://schemas.microsoft.com/office/drawing/2014/main" val="2379616878"/>
                  </a:ext>
                </a:extLst>
              </a:tr>
              <a:tr h="835962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Agente / Ejecutivo Comercial</a:t>
                      </a:r>
                      <a:endParaRPr lang="es-CL" sz="3600">
                        <a:effectLst/>
                      </a:endParaRPr>
                    </a:p>
                  </a:txBody>
                  <a:tcPr marL="50800" marR="50800" marT="38100" marB="38100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Medio</a:t>
                      </a:r>
                      <a:endParaRPr lang="es-CL" sz="3600">
                        <a:effectLst/>
                      </a:endParaRPr>
                    </a:p>
                  </a:txBody>
                  <a:tcPr marL="50800" marR="50800" marT="38100" marB="38100" anchor="ctr"/>
                </a:tc>
                <a:extLst>
                  <a:ext uri="{0D108BD9-81ED-4DB2-BD59-A6C34878D82A}">
                    <a16:rowId xmlns:a16="http://schemas.microsoft.com/office/drawing/2014/main" val="1173197125"/>
                  </a:ext>
                </a:extLst>
              </a:tr>
              <a:tr h="835962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Personal de Operaciones (Tierra / Check-in)</a:t>
                      </a:r>
                      <a:endParaRPr lang="es-CL" sz="3600">
                        <a:effectLst/>
                      </a:endParaRPr>
                    </a:p>
                  </a:txBody>
                  <a:tcPr marL="50800" marR="50800" marT="38100" marB="38100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Medio</a:t>
                      </a:r>
                      <a:endParaRPr lang="es-CL" sz="3600">
                        <a:effectLst/>
                      </a:endParaRPr>
                    </a:p>
                  </a:txBody>
                  <a:tcPr marL="50800" marR="50800" marT="38100" marB="38100" anchor="ctr"/>
                </a:tc>
                <a:extLst>
                  <a:ext uri="{0D108BD9-81ED-4DB2-BD59-A6C34878D82A}">
                    <a16:rowId xmlns:a16="http://schemas.microsoft.com/office/drawing/2014/main" val="4119520726"/>
                  </a:ext>
                </a:extLst>
              </a:tr>
              <a:tr h="835962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Piloto / Tripulación de Cabina</a:t>
                      </a:r>
                      <a:endParaRPr lang="es-CL" sz="3600">
                        <a:effectLst/>
                      </a:endParaRPr>
                    </a:p>
                  </a:txBody>
                  <a:tcPr marL="50800" marR="50800" marT="38100" marB="38100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Medio</a:t>
                      </a:r>
                      <a:endParaRPr lang="es-CL" sz="3600">
                        <a:effectLst/>
                      </a:endParaRPr>
                    </a:p>
                  </a:txBody>
                  <a:tcPr marL="50800" marR="50800" marT="38100" marB="38100" anchor="ctr"/>
                </a:tc>
                <a:extLst>
                  <a:ext uri="{0D108BD9-81ED-4DB2-BD59-A6C34878D82A}">
                    <a16:rowId xmlns:a16="http://schemas.microsoft.com/office/drawing/2014/main" val="1161283843"/>
                  </a:ext>
                </a:extLst>
              </a:tr>
              <a:tr h="835962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Personal de Mantenimiento</a:t>
                      </a:r>
                      <a:endParaRPr lang="es-CL" sz="3600" dirty="0">
                        <a:effectLst/>
                      </a:endParaRPr>
                    </a:p>
                  </a:txBody>
                  <a:tcPr marL="50800" marR="50800" marT="38100" marB="38100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2000" u="none" strike="noStrike" dirty="0">
                          <a:effectLst/>
                        </a:rPr>
                        <a:t>Medio</a:t>
                      </a:r>
                      <a:endParaRPr lang="es-CL" sz="3600" dirty="0">
                        <a:effectLst/>
                      </a:endParaRPr>
                    </a:p>
                  </a:txBody>
                  <a:tcPr marL="50800" marR="50800" marT="38100" marB="38100" anchor="ctr"/>
                </a:tc>
                <a:extLst>
                  <a:ext uri="{0D108BD9-81ED-4DB2-BD59-A6C34878D82A}">
                    <a16:rowId xmlns:a16="http://schemas.microsoft.com/office/drawing/2014/main" val="3454903517"/>
                  </a:ext>
                </a:extLst>
              </a:tr>
            </a:tbl>
          </a:graphicData>
        </a:graphic>
      </p:graphicFrame>
      <p:pic>
        <p:nvPicPr>
          <p:cNvPr id="11" name="Imagen 10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3A55FA4D-414D-B3B0-A5F9-2F86D929B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786" y="5990628"/>
            <a:ext cx="3469486" cy="8673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6" name="Rectangle 165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Freeform: Shape 167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6" name="Google Shape;136;p7"/>
          <p:cNvSpPr txBox="1">
            <a:spLocks noGrp="1"/>
          </p:cNvSpPr>
          <p:nvPr>
            <p:ph type="title"/>
          </p:nvPr>
        </p:nvSpPr>
        <p:spPr>
          <a:xfrm>
            <a:off x="643468" y="643467"/>
            <a:ext cx="4620584" cy="4567137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4400"/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Lista de Requerimientos - Funcionales 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55D67E3-2DEC-3858-BE3A-0173F03A1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843294"/>
              </p:ext>
            </p:extLst>
          </p:nvPr>
        </p:nvGraphicFramePr>
        <p:xfrm>
          <a:off x="5962785" y="643467"/>
          <a:ext cx="5664533" cy="5316234"/>
        </p:xfrm>
        <a:graphic>
          <a:graphicData uri="http://schemas.openxmlformats.org/drawingml/2006/table">
            <a:tbl>
              <a:tblPr>
                <a:noFill/>
                <a:tableStyleId>{A2D085DF-3E6F-4927-A1E1-BBA965F75032}</a:tableStyleId>
              </a:tblPr>
              <a:tblGrid>
                <a:gridCol w="950264">
                  <a:extLst>
                    <a:ext uri="{9D8B030D-6E8A-4147-A177-3AD203B41FA5}">
                      <a16:colId xmlns:a16="http://schemas.microsoft.com/office/drawing/2014/main" val="969445180"/>
                    </a:ext>
                  </a:extLst>
                </a:gridCol>
                <a:gridCol w="3361156">
                  <a:extLst>
                    <a:ext uri="{9D8B030D-6E8A-4147-A177-3AD203B41FA5}">
                      <a16:colId xmlns:a16="http://schemas.microsoft.com/office/drawing/2014/main" val="2033757570"/>
                    </a:ext>
                  </a:extLst>
                </a:gridCol>
                <a:gridCol w="1353113">
                  <a:extLst>
                    <a:ext uri="{9D8B030D-6E8A-4147-A177-3AD203B41FA5}">
                      <a16:colId xmlns:a16="http://schemas.microsoft.com/office/drawing/2014/main" val="333357594"/>
                    </a:ext>
                  </a:extLst>
                </a:gridCol>
              </a:tblGrid>
              <a:tr h="247333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R.1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Administrar rutas de vuelo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Funcional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833163"/>
                  </a:ext>
                </a:extLst>
              </a:tr>
              <a:tr h="247333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R.2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Administrar flota de aviones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Funcional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29601"/>
                  </a:ext>
                </a:extLst>
              </a:tr>
              <a:tr h="247333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R.3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Administrar itinerarios de vuelo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Funcional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661499"/>
                  </a:ext>
                </a:extLst>
              </a:tr>
              <a:tr h="247333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R.4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Administrar tarifas y clases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Funcional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310156"/>
                  </a:ext>
                </a:extLst>
              </a:tr>
              <a:tr h="247333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R.5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Administrar pasajeros</a:t>
                      </a:r>
                      <a:endParaRPr lang="es-CL" sz="1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Funcional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394679"/>
                  </a:ext>
                </a:extLst>
              </a:tr>
              <a:tr h="247333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R.6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Administrar reservas (PNR)</a:t>
                      </a:r>
                      <a:endParaRPr lang="es-CL" sz="1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Funcional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699013"/>
                  </a:ext>
                </a:extLst>
              </a:tr>
              <a:tr h="247333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R.7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Administrar asientos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Funcional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874253"/>
                  </a:ext>
                </a:extLst>
              </a:tr>
              <a:tr h="247333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R.8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Administrar equipaje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Funcional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816988"/>
                  </a:ext>
                </a:extLst>
              </a:tr>
              <a:tr h="247333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R.9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Administrar tripulación</a:t>
                      </a:r>
                      <a:endParaRPr lang="es-CL" sz="1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Funcional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26408"/>
                  </a:ext>
                </a:extLst>
              </a:tr>
              <a:tr h="247333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R.12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Administrar reclamos y devoluciones</a:t>
                      </a:r>
                      <a:endParaRPr lang="es-CL" sz="1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Funcional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003828"/>
                  </a:ext>
                </a:extLst>
              </a:tr>
              <a:tr h="247333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R.13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Realizar check-in en línea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Funcional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473658"/>
                  </a:ext>
                </a:extLst>
              </a:tr>
              <a:tr h="247333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R.14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Búsqueda de vuelos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Funcional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513461"/>
                  </a:ext>
                </a:extLst>
              </a:tr>
              <a:tr h="247333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R.15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Administrar agentes comerciales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Funcional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461331"/>
                  </a:ext>
                </a:extLst>
              </a:tr>
              <a:tr h="247333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R.16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Administrar Personal de Operaciones (Tierra)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Funcional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815491"/>
                  </a:ext>
                </a:extLst>
              </a:tr>
              <a:tr h="297612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R.17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Administrar Personal de Mantenimiento (Aviones)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Funcional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105929"/>
                  </a:ext>
                </a:extLst>
              </a:tr>
              <a:tr h="247333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R.18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Administrar perfiles de usuario</a:t>
                      </a:r>
                      <a:endParaRPr lang="es-CL" sz="1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Funcional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158355"/>
                  </a:ext>
                </a:extLst>
              </a:tr>
              <a:tr h="247333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R.19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Gestión de perfil de usuario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Funcional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605705"/>
                  </a:ext>
                </a:extLst>
              </a:tr>
              <a:tr h="247333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R.20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Procesar pagos mediante Webpay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Funcional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682736"/>
                  </a:ext>
                </a:extLst>
              </a:tr>
              <a:tr h="247333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R.21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Centro de notificaciones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Funcional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090753"/>
                  </a:ext>
                </a:extLst>
              </a:tr>
              <a:tr h="247333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R.22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Enviar notificaciones masivas</a:t>
                      </a:r>
                      <a:endParaRPr lang="es-CL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1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Funcional</a:t>
                      </a:r>
                      <a:endParaRPr lang="es-CL" sz="1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80415" marR="48249" marT="48249" marB="4824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470232"/>
                  </a:ext>
                </a:extLst>
              </a:tr>
            </a:tbl>
          </a:graphicData>
        </a:graphic>
      </p:graphicFrame>
      <p:pic>
        <p:nvPicPr>
          <p:cNvPr id="5" name="Imagen 4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2FA379CA-92E1-C395-E50C-B11147475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786" y="5990628"/>
            <a:ext cx="3469486" cy="8673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5">
          <a:extLst>
            <a:ext uri="{FF2B5EF4-FFF2-40B4-BE49-F238E27FC236}">
              <a16:creationId xmlns:a16="http://schemas.microsoft.com/office/drawing/2014/main" id="{C2A6D71A-6D8E-288F-64D1-421D8553B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7" name="Rectangle 176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6" name="Google Shape;136;p7">
            <a:extLst>
              <a:ext uri="{FF2B5EF4-FFF2-40B4-BE49-F238E27FC236}">
                <a16:creationId xmlns:a16="http://schemas.microsoft.com/office/drawing/2014/main" id="{97591B03-7F5B-FF4E-05B1-1CC9066361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ctr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4400"/>
            </a:pPr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Lista de </a:t>
            </a:r>
            <a:r>
              <a:rPr lang="en-US" sz="3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Requerimientos</a:t>
            </a:r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–</a:t>
            </a:r>
            <a:b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No </a:t>
            </a:r>
            <a:r>
              <a:rPr lang="en-US" sz="3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Funcionales</a:t>
            </a:r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FC24887-50E2-2DA7-D53F-E22BF1CA5F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982943"/>
              </p:ext>
            </p:extLst>
          </p:nvPr>
        </p:nvGraphicFramePr>
        <p:xfrm>
          <a:off x="5895752" y="585142"/>
          <a:ext cx="5802086" cy="5206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2352">
                  <a:extLst>
                    <a:ext uri="{9D8B030D-6E8A-4147-A177-3AD203B41FA5}">
                      <a16:colId xmlns:a16="http://schemas.microsoft.com/office/drawing/2014/main" val="1964075968"/>
                    </a:ext>
                  </a:extLst>
                </a:gridCol>
                <a:gridCol w="3564427">
                  <a:extLst>
                    <a:ext uri="{9D8B030D-6E8A-4147-A177-3AD203B41FA5}">
                      <a16:colId xmlns:a16="http://schemas.microsoft.com/office/drawing/2014/main" val="782424843"/>
                    </a:ext>
                  </a:extLst>
                </a:gridCol>
                <a:gridCol w="1435307">
                  <a:extLst>
                    <a:ext uri="{9D8B030D-6E8A-4147-A177-3AD203B41FA5}">
                      <a16:colId xmlns:a16="http://schemas.microsoft.com/office/drawing/2014/main" val="1753555166"/>
                    </a:ext>
                  </a:extLst>
                </a:gridCol>
              </a:tblGrid>
              <a:tr h="325379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R.23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Reportes en formato PDF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 funcional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extLst>
                  <a:ext uri="{0D108BD9-81ED-4DB2-BD59-A6C34878D82A}">
                    <a16:rowId xmlns:a16="http://schemas.microsoft.com/office/drawing/2014/main" val="293589991"/>
                  </a:ext>
                </a:extLst>
              </a:tr>
              <a:tr h="325379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R.24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Interoperabilidad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 funcional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extLst>
                  <a:ext uri="{0D108BD9-81ED-4DB2-BD59-A6C34878D82A}">
                    <a16:rowId xmlns:a16="http://schemas.microsoft.com/office/drawing/2014/main" val="1929331527"/>
                  </a:ext>
                </a:extLst>
              </a:tr>
              <a:tr h="325379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R.25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Sistema web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 funcional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extLst>
                  <a:ext uri="{0D108BD9-81ED-4DB2-BD59-A6C34878D82A}">
                    <a16:rowId xmlns:a16="http://schemas.microsoft.com/office/drawing/2014/main" val="3059026012"/>
                  </a:ext>
                </a:extLst>
              </a:tr>
              <a:tr h="325379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R.26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Sistema construido a medida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 funcional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extLst>
                  <a:ext uri="{0D108BD9-81ED-4DB2-BD59-A6C34878D82A}">
                    <a16:rowId xmlns:a16="http://schemas.microsoft.com/office/drawing/2014/main" val="1221812928"/>
                  </a:ext>
                </a:extLst>
              </a:tr>
              <a:tr h="325379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R.27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Sistema de fácil uso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 funcional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extLst>
                  <a:ext uri="{0D108BD9-81ED-4DB2-BD59-A6C34878D82A}">
                    <a16:rowId xmlns:a16="http://schemas.microsoft.com/office/drawing/2014/main" val="2169865878"/>
                  </a:ext>
                </a:extLst>
              </a:tr>
              <a:tr h="325379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R.28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Sistema construido en módulos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 funcional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extLst>
                  <a:ext uri="{0D108BD9-81ED-4DB2-BD59-A6C34878D82A}">
                    <a16:rowId xmlns:a16="http://schemas.microsoft.com/office/drawing/2014/main" val="237378417"/>
                  </a:ext>
                </a:extLst>
              </a:tr>
              <a:tr h="325379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R.29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Sistema debe estar disponible 24x7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 funcional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extLst>
                  <a:ext uri="{0D108BD9-81ED-4DB2-BD59-A6C34878D82A}">
                    <a16:rowId xmlns:a16="http://schemas.microsoft.com/office/drawing/2014/main" val="1622867121"/>
                  </a:ext>
                </a:extLst>
              </a:tr>
              <a:tr h="325379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R.30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Respuestas rápidas y oportunas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 funcional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extLst>
                  <a:ext uri="{0D108BD9-81ED-4DB2-BD59-A6C34878D82A}">
                    <a16:rowId xmlns:a16="http://schemas.microsoft.com/office/drawing/2014/main" val="932950199"/>
                  </a:ext>
                </a:extLst>
              </a:tr>
              <a:tr h="325379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R.31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Operaciones correctas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 funcional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extLst>
                  <a:ext uri="{0D108BD9-81ED-4DB2-BD59-A6C34878D82A}">
                    <a16:rowId xmlns:a16="http://schemas.microsoft.com/office/drawing/2014/main" val="2974560904"/>
                  </a:ext>
                </a:extLst>
              </a:tr>
              <a:tr h="325379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R.32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Operación en moneda local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 funcional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extLst>
                  <a:ext uri="{0D108BD9-81ED-4DB2-BD59-A6C34878D82A}">
                    <a16:rowId xmlns:a16="http://schemas.microsoft.com/office/drawing/2014/main" val="2577480000"/>
                  </a:ext>
                </a:extLst>
              </a:tr>
              <a:tr h="325379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R.33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Restablecimiento rápido tras caída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 funcional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extLst>
                  <a:ext uri="{0D108BD9-81ED-4DB2-BD59-A6C34878D82A}">
                    <a16:rowId xmlns:a16="http://schemas.microsoft.com/office/drawing/2014/main" val="386643163"/>
                  </a:ext>
                </a:extLst>
              </a:tr>
              <a:tr h="325379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R.34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Adaptable a dispositivos fijos y móviles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 funcional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extLst>
                  <a:ext uri="{0D108BD9-81ED-4DB2-BD59-A6C34878D82A}">
                    <a16:rowId xmlns:a16="http://schemas.microsoft.com/office/drawing/2014/main" val="3595969154"/>
                  </a:ext>
                </a:extLst>
              </a:tr>
              <a:tr h="325379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R.35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Seguridad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 funcional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extLst>
                  <a:ext uri="{0D108BD9-81ED-4DB2-BD59-A6C34878D82A}">
                    <a16:rowId xmlns:a16="http://schemas.microsoft.com/office/drawing/2014/main" val="3986131271"/>
                  </a:ext>
                </a:extLst>
              </a:tr>
              <a:tr h="325379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R.36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Escalabilidad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 funcional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extLst>
                  <a:ext uri="{0D108BD9-81ED-4DB2-BD59-A6C34878D82A}">
                    <a16:rowId xmlns:a16="http://schemas.microsoft.com/office/drawing/2014/main" val="629558496"/>
                  </a:ext>
                </a:extLst>
              </a:tr>
              <a:tr h="325379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R.37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Fácil instalación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 funcional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extLst>
                  <a:ext uri="{0D108BD9-81ED-4DB2-BD59-A6C34878D82A}">
                    <a16:rowId xmlns:a16="http://schemas.microsoft.com/office/drawing/2014/main" val="3778990347"/>
                  </a:ext>
                </a:extLst>
              </a:tr>
              <a:tr h="325379"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R.38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Compatibilidad con navegadores</a:t>
                      </a:r>
                      <a:endParaRPr lang="es-C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tc>
                  <a:txBody>
                    <a:bodyPr/>
                    <a:lstStyle/>
                    <a:p>
                      <a:pPr algn="just" rtl="0" fontAlgn="ctr">
                        <a:buNone/>
                      </a:pPr>
                      <a:r>
                        <a:rPr lang="es-CL" sz="1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No funcional</a:t>
                      </a:r>
                      <a:endParaRPr lang="es-CL" sz="12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777" marR="58888" marT="16508" marB="123809" anchor="ctr"/>
                </a:tc>
                <a:extLst>
                  <a:ext uri="{0D108BD9-81ED-4DB2-BD59-A6C34878D82A}">
                    <a16:rowId xmlns:a16="http://schemas.microsoft.com/office/drawing/2014/main" val="823384268"/>
                  </a:ext>
                </a:extLst>
              </a:tr>
            </a:tbl>
          </a:graphicData>
        </a:graphic>
      </p:graphicFrame>
      <p:pic>
        <p:nvPicPr>
          <p:cNvPr id="4" name="Imagen 3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9ABBE008-1CFE-08E3-66B4-74E7561BA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786" y="5990628"/>
            <a:ext cx="3469486" cy="8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986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8" name="Rectangle 147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2" name="Google Shape;142;p8"/>
          <p:cNvSpPr txBox="1"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  <a:buSzPct val="100000"/>
            </a:pPr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Mockups del Sistema - </a:t>
            </a:r>
            <a:r>
              <a:rPr lang="en-US" sz="3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Página inicial ( menú de inicio)</a:t>
            </a:r>
            <a:br>
              <a:rPr lang="en-US" sz="3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FE90315-3A44-85B9-498A-5BDAAD531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751" y="1722825"/>
            <a:ext cx="5708649" cy="3382374"/>
          </a:xfrm>
          <a:prstGeom prst="rect">
            <a:avLst/>
          </a:prstGeom>
        </p:spPr>
      </p:pic>
      <p:sp>
        <p:nvSpPr>
          <p:cNvPr id="143" name="Google Shape;143;p8"/>
          <p:cNvSpPr txBox="1"/>
          <p:nvPr/>
        </p:nvSpPr>
        <p:spPr>
          <a:xfrm>
            <a:off x="757367" y="1848356"/>
            <a:ext cx="9990462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39B3553B-B0F3-64EF-94A3-52F29026C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2786" y="5990628"/>
            <a:ext cx="3469486" cy="8673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4" name="Rectangle 153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8" name="Google Shape;148;p9"/>
          <p:cNvSpPr txBox="1"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algn="ctr">
              <a:spcBef>
                <a:spcPct val="0"/>
              </a:spcBef>
              <a:buSzPct val="100000"/>
            </a:pPr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Mockups del Sistema - </a:t>
            </a:r>
            <a:r>
              <a:rPr lang="en-US" sz="3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Página de estado de vuelo en vivo</a:t>
            </a: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28F0675-FD03-4764-8CDC-D386C65C4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751" y="1779912"/>
            <a:ext cx="5708649" cy="3268200"/>
          </a:xfrm>
          <a:prstGeom prst="rect">
            <a:avLst/>
          </a:prstGeom>
        </p:spPr>
      </p:pic>
      <p:sp>
        <p:nvSpPr>
          <p:cNvPr id="149" name="Google Shape;149;p9"/>
          <p:cNvSpPr txBox="1"/>
          <p:nvPr/>
        </p:nvSpPr>
        <p:spPr>
          <a:xfrm>
            <a:off x="757367" y="1848356"/>
            <a:ext cx="9990462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D8792616-0493-6424-C37B-F165D10F9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2786" y="5990628"/>
            <a:ext cx="3469486" cy="8673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047080A2-F2B6-399F-E64F-6057A6E1A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4" name="Rectangle 153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8" name="Google Shape;148;p9">
            <a:extLst>
              <a:ext uri="{FF2B5EF4-FFF2-40B4-BE49-F238E27FC236}">
                <a16:creationId xmlns:a16="http://schemas.microsoft.com/office/drawing/2014/main" id="{51A7ABE5-948F-9455-6C27-371D2D2251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algn="ctr">
              <a:spcBef>
                <a:spcPct val="0"/>
              </a:spcBef>
              <a:buSzPct val="100000"/>
            </a:pPr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Mockups del Sistema - </a:t>
            </a:r>
            <a:r>
              <a:rPr lang="en-US" sz="3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Módulo de Check-in digital</a:t>
            </a: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B512DB8-39A1-CAEA-3E62-5A1F51666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751" y="2051073"/>
            <a:ext cx="5708649" cy="2725879"/>
          </a:xfrm>
          <a:prstGeom prst="rect">
            <a:avLst/>
          </a:prstGeom>
        </p:spPr>
      </p:pic>
      <p:sp>
        <p:nvSpPr>
          <p:cNvPr id="149" name="Google Shape;149;p9">
            <a:extLst>
              <a:ext uri="{FF2B5EF4-FFF2-40B4-BE49-F238E27FC236}">
                <a16:creationId xmlns:a16="http://schemas.microsoft.com/office/drawing/2014/main" id="{67FC59E7-E01E-F12A-FF25-C35258DF8773}"/>
              </a:ext>
            </a:extLst>
          </p:cNvPr>
          <p:cNvSpPr txBox="1"/>
          <p:nvPr/>
        </p:nvSpPr>
        <p:spPr>
          <a:xfrm>
            <a:off x="757367" y="1848356"/>
            <a:ext cx="9990462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D47DB16E-DEEB-D1B7-A5D1-4B3A82C9C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2786" y="5990628"/>
            <a:ext cx="3469486" cy="8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004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BB7FE4FB-B65A-98FA-D664-BE83E336C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4" name="Rectangle 153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8" name="Google Shape;148;p9">
            <a:extLst>
              <a:ext uri="{FF2B5EF4-FFF2-40B4-BE49-F238E27FC236}">
                <a16:creationId xmlns:a16="http://schemas.microsoft.com/office/drawing/2014/main" id="{076733DB-A454-338E-A14E-FAB1823BBF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algn="ctr">
              <a:spcBef>
                <a:spcPct val="0"/>
              </a:spcBef>
              <a:buSzPct val="100000"/>
            </a:pPr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Mockups del Sistema - </a:t>
            </a:r>
            <a:r>
              <a:rPr lang="en-US" sz="3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Módulo de ofertas exclusivas</a:t>
            </a: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2C8D99B-C835-E2D5-AD15-B8AC14AEE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751" y="2129567"/>
            <a:ext cx="5708649" cy="2568891"/>
          </a:xfrm>
          <a:prstGeom prst="rect">
            <a:avLst/>
          </a:prstGeom>
        </p:spPr>
      </p:pic>
      <p:sp>
        <p:nvSpPr>
          <p:cNvPr id="149" name="Google Shape;149;p9">
            <a:extLst>
              <a:ext uri="{FF2B5EF4-FFF2-40B4-BE49-F238E27FC236}">
                <a16:creationId xmlns:a16="http://schemas.microsoft.com/office/drawing/2014/main" id="{F86EADFF-C01B-4D6A-0FDE-4694BD809FBE}"/>
              </a:ext>
            </a:extLst>
          </p:cNvPr>
          <p:cNvSpPr txBox="1"/>
          <p:nvPr/>
        </p:nvSpPr>
        <p:spPr>
          <a:xfrm>
            <a:off x="757367" y="1848356"/>
            <a:ext cx="9990462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1EFF577E-AA7F-8399-586C-8DBA70941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2786" y="5990628"/>
            <a:ext cx="3469486" cy="8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517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A21F8443-4113-35C3-195D-AC8EADC90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4" name="Rectangle 153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8" name="Google Shape;148;p9">
            <a:extLst>
              <a:ext uri="{FF2B5EF4-FFF2-40B4-BE49-F238E27FC236}">
                <a16:creationId xmlns:a16="http://schemas.microsoft.com/office/drawing/2014/main" id="{2D860DF9-31DE-4B4C-8572-E762CCE48A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algn="ctr">
              <a:spcBef>
                <a:spcPct val="0"/>
              </a:spcBef>
              <a:buSzPct val="100000"/>
            </a:pPr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Mockups del Sistema - </a:t>
            </a:r>
            <a:r>
              <a:rPr lang="en-US" sz="4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Módulo Inicio de sesión</a:t>
            </a:r>
            <a:endParaRPr lang="en-US" sz="4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6878A12-FEE1-5D3A-9F63-ECC3CBB3C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751" y="2008258"/>
            <a:ext cx="5708649" cy="2811509"/>
          </a:xfrm>
          <a:prstGeom prst="rect">
            <a:avLst/>
          </a:prstGeom>
        </p:spPr>
      </p:pic>
      <p:sp>
        <p:nvSpPr>
          <p:cNvPr id="149" name="Google Shape;149;p9">
            <a:extLst>
              <a:ext uri="{FF2B5EF4-FFF2-40B4-BE49-F238E27FC236}">
                <a16:creationId xmlns:a16="http://schemas.microsoft.com/office/drawing/2014/main" id="{BE57486B-CD4E-BC59-F98E-40BD3F30F554}"/>
              </a:ext>
            </a:extLst>
          </p:cNvPr>
          <p:cNvSpPr txBox="1"/>
          <p:nvPr/>
        </p:nvSpPr>
        <p:spPr>
          <a:xfrm>
            <a:off x="757367" y="1848356"/>
            <a:ext cx="9990462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5EBF0C91-903C-EDC5-41A2-EC8945406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2786" y="5990628"/>
            <a:ext cx="3469486" cy="8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39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ADE9D0E0-2798-01B8-7288-E0CD1C9D5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4" name="Rectangle 153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8" name="Google Shape;148;p9">
            <a:extLst>
              <a:ext uri="{FF2B5EF4-FFF2-40B4-BE49-F238E27FC236}">
                <a16:creationId xmlns:a16="http://schemas.microsoft.com/office/drawing/2014/main" id="{CB9D0912-D4AB-09D8-8E6B-BFBDB8F046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algn="ctr">
              <a:spcBef>
                <a:spcPct val="0"/>
              </a:spcBef>
              <a:buSzPct val="100000"/>
            </a:pPr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Mockups del Sistema - </a:t>
            </a:r>
            <a:r>
              <a:rPr lang="en-US" sz="3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Módulo de registro de usuario</a:t>
            </a: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0C43AEC-81E1-C5B0-59CE-F9A81D24E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751" y="1601516"/>
            <a:ext cx="5708649" cy="3624992"/>
          </a:xfrm>
          <a:prstGeom prst="rect">
            <a:avLst/>
          </a:prstGeom>
        </p:spPr>
      </p:pic>
      <p:sp>
        <p:nvSpPr>
          <p:cNvPr id="149" name="Google Shape;149;p9">
            <a:extLst>
              <a:ext uri="{FF2B5EF4-FFF2-40B4-BE49-F238E27FC236}">
                <a16:creationId xmlns:a16="http://schemas.microsoft.com/office/drawing/2014/main" id="{132F220E-2339-E2E0-7581-FAA1EB5BCD94}"/>
              </a:ext>
            </a:extLst>
          </p:cNvPr>
          <p:cNvSpPr txBox="1"/>
          <p:nvPr/>
        </p:nvSpPr>
        <p:spPr>
          <a:xfrm>
            <a:off x="757367" y="1848356"/>
            <a:ext cx="9990462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915F6256-6E2E-6AA1-CBE7-FFFB1E967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2786" y="5990628"/>
            <a:ext cx="3469486" cy="8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66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AC36FA77-AE2E-9779-C925-71D565313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1" name="Rectangle 170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8" name="Google Shape;148;p9">
            <a:extLst>
              <a:ext uri="{FF2B5EF4-FFF2-40B4-BE49-F238E27FC236}">
                <a16:creationId xmlns:a16="http://schemas.microsoft.com/office/drawing/2014/main" id="{A77FE396-4BDD-5D39-E77D-434932A758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algn="ctr">
              <a:spcBef>
                <a:spcPct val="0"/>
              </a:spcBef>
              <a:buSzPct val="100000"/>
            </a:pPr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Mockups del Sistema - </a:t>
            </a:r>
            <a:r>
              <a:rPr lang="en-US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Módulo de Administración: Gestión de vuelos</a:t>
            </a:r>
            <a:endParaRPr lang="en-US" sz="3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ADF2119-BB6D-39EE-7BB8-5A4447F3B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751" y="1951171"/>
            <a:ext cx="5708649" cy="2925683"/>
          </a:xfrm>
          <a:prstGeom prst="rect">
            <a:avLst/>
          </a:prstGeom>
        </p:spPr>
      </p:pic>
      <p:sp>
        <p:nvSpPr>
          <p:cNvPr id="149" name="Google Shape;149;p9">
            <a:extLst>
              <a:ext uri="{FF2B5EF4-FFF2-40B4-BE49-F238E27FC236}">
                <a16:creationId xmlns:a16="http://schemas.microsoft.com/office/drawing/2014/main" id="{8DAA4B55-ECF5-459D-FEB2-9AE1692A9D4F}"/>
              </a:ext>
            </a:extLst>
          </p:cNvPr>
          <p:cNvSpPr txBox="1"/>
          <p:nvPr/>
        </p:nvSpPr>
        <p:spPr>
          <a:xfrm>
            <a:off x="757367" y="1848356"/>
            <a:ext cx="9990462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3D275348-3863-42E2-F9CB-ABC1D73FA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2786" y="5990628"/>
            <a:ext cx="3469486" cy="8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287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51BD7DAD-320B-71B5-D1B6-EAAD839BA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" name="Rectangle 162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Freeform: Shape 164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8" name="Google Shape;148;p9">
            <a:extLst>
              <a:ext uri="{FF2B5EF4-FFF2-40B4-BE49-F238E27FC236}">
                <a16:creationId xmlns:a16="http://schemas.microsoft.com/office/drawing/2014/main" id="{531FDEBD-1FBE-D952-F090-6845A7CD32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  <a:buSzPct val="100000"/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Mockups del Sistema - </a:t>
            </a:r>
            <a:r>
              <a:rPr lang="en-US"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Módulo de Administración: Gestión de Itinerarios</a:t>
            </a:r>
            <a:br>
              <a:rPr lang="en-US"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C399FA1-E0D5-8767-F793-BEFB4C763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751" y="1901220"/>
            <a:ext cx="5708649" cy="3025584"/>
          </a:xfrm>
          <a:prstGeom prst="rect">
            <a:avLst/>
          </a:prstGeom>
        </p:spPr>
      </p:pic>
      <p:sp>
        <p:nvSpPr>
          <p:cNvPr id="149" name="Google Shape;149;p9">
            <a:extLst>
              <a:ext uri="{FF2B5EF4-FFF2-40B4-BE49-F238E27FC236}">
                <a16:creationId xmlns:a16="http://schemas.microsoft.com/office/drawing/2014/main" id="{595BBE97-C8C1-6145-0894-E264EA4C13E6}"/>
              </a:ext>
            </a:extLst>
          </p:cNvPr>
          <p:cNvSpPr txBox="1"/>
          <p:nvPr/>
        </p:nvSpPr>
        <p:spPr>
          <a:xfrm>
            <a:off x="757367" y="1848356"/>
            <a:ext cx="9990462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lang="es-CL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30DE5C3E-3936-D533-7330-A2925E913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2786" y="5990628"/>
            <a:ext cx="3469486" cy="8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703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6" name="Rectangle 175">
            <a:extLst>
              <a:ext uri="{FF2B5EF4-FFF2-40B4-BE49-F238E27FC236}">
                <a16:creationId xmlns:a16="http://schemas.microsoft.com/office/drawing/2014/main" id="{BEBFA723-5A7B-472D-ABD7-1526B8D3A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33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A6B27065-399A-4CF7-BF70-CF79B9848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33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4" name="Group 179">
            <a:extLst>
              <a:ext uri="{FF2B5EF4-FFF2-40B4-BE49-F238E27FC236}">
                <a16:creationId xmlns:a16="http://schemas.microsoft.com/office/drawing/2014/main" id="{CF22986C-DDF7-4109-9D6A-006800D6B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6" y="52996"/>
            <a:ext cx="6093363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85" name="Freeform: Shape 180">
              <a:extLst>
                <a:ext uri="{FF2B5EF4-FFF2-40B4-BE49-F238E27FC236}">
                  <a16:creationId xmlns:a16="http://schemas.microsoft.com/office/drawing/2014/main" id="{4C025298-F835-4B83-A3A3-6555157E0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7106C81-A3F0-4DA0-9368-6BBCDB9648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4B3B35E8-1AF4-4D76-93A5-B0B088408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4" name="Google Shape;154;p10"/>
          <p:cNvSpPr txBox="1">
            <a:spLocks noGrp="1"/>
          </p:cNvSpPr>
          <p:nvPr>
            <p:ph type="title"/>
          </p:nvPr>
        </p:nvSpPr>
        <p:spPr>
          <a:xfrm>
            <a:off x="804672" y="3121701"/>
            <a:ext cx="3658053" cy="1786515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sz="4000" kern="1200" dirty="0" err="1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Hitos</a:t>
            </a:r>
            <a:r>
              <a:rPr lang="en-US" sz="40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Importantes</a:t>
            </a:r>
            <a:r>
              <a:rPr lang="en-US" sz="40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graphicFrame>
        <p:nvGraphicFramePr>
          <p:cNvPr id="155" name="Google Shape;155;p10"/>
          <p:cNvGraphicFramePr/>
          <p:nvPr>
            <p:extLst>
              <p:ext uri="{D42A27DB-BD31-4B8C-83A1-F6EECF244321}">
                <p14:modId xmlns:p14="http://schemas.microsoft.com/office/powerpoint/2010/main" val="2519792697"/>
              </p:ext>
            </p:extLst>
          </p:nvPr>
        </p:nvGraphicFramePr>
        <p:xfrm>
          <a:off x="6379341" y="1071876"/>
          <a:ext cx="5029201" cy="4706485"/>
        </p:xfrm>
        <a:graphic>
          <a:graphicData uri="http://schemas.openxmlformats.org/drawingml/2006/table">
            <a:tbl>
              <a:tblPr firstRow="1" bandRow="1">
                <a:noFill/>
                <a:tableStyleId>{A2D085DF-3E6F-4927-A1E1-BBA965F75032}</a:tableStyleId>
              </a:tblPr>
              <a:tblGrid>
                <a:gridCol w="2602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/>
                        <a:t>Nombre Fase</a:t>
                      </a:r>
                    </a:p>
                  </a:txBody>
                  <a:tcPr marL="106002" marR="106002" marT="53001" marB="53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/>
                        <a:t>Fechas</a:t>
                      </a:r>
                    </a:p>
                  </a:txBody>
                  <a:tcPr marL="106002" marR="106002" marT="53001" marB="5300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/>
                        <a:t>Fase de Planificación</a:t>
                      </a:r>
                    </a:p>
                  </a:txBody>
                  <a:tcPr marL="106002" marR="106002" marT="53001" marB="53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/>
                        <a:t>10 ago 2026 – 21 ago 2026 </a:t>
                      </a:r>
                    </a:p>
                  </a:txBody>
                  <a:tcPr marL="106002" marR="106002" marT="53001" marB="5300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/>
                        <a:t>Fase de Análisis y Diseño</a:t>
                      </a:r>
                      <a:endParaRPr lang="es-CL" sz="1600"/>
                    </a:p>
                  </a:txBody>
                  <a:tcPr marL="106002" marR="106002" marT="53001" marB="53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/>
                        <a:t>22 ago 2026 – 04 sep 2026</a:t>
                      </a:r>
                    </a:p>
                  </a:txBody>
                  <a:tcPr marL="106002" marR="106002" marT="53001" marB="5300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4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/>
                        <a:t>Fase de Desarrollo</a:t>
                      </a:r>
                      <a:endParaRPr lang="es-CL" sz="1600"/>
                    </a:p>
                  </a:txBody>
                  <a:tcPr marL="106002" marR="106002" marT="53001" marB="53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/>
                        <a:t>05 sep 2026 – 27 oct 2026</a:t>
                      </a:r>
                      <a:endParaRPr lang="es-CL" sz="1600" dirty="0"/>
                    </a:p>
                  </a:txBody>
                  <a:tcPr marL="106002" marR="106002" marT="53001" marB="5300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4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/>
                        <a:t>Fase de Pruebas y QA</a:t>
                      </a:r>
                      <a:endParaRPr lang="es-CL" sz="1600"/>
                    </a:p>
                  </a:txBody>
                  <a:tcPr marL="106002" marR="106002" marT="53001" marB="53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/>
                        <a:t>28 oct 2026 – 17 nov 2026</a:t>
                      </a:r>
                    </a:p>
                  </a:txBody>
                  <a:tcPr marL="106002" marR="106002" marT="53001" marB="5300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02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/>
                        <a:t>Fase de Implementación y Cierre</a:t>
                      </a:r>
                      <a:endParaRPr lang="es-CL" sz="1600"/>
                    </a:p>
                  </a:txBody>
                  <a:tcPr marL="106002" marR="106002" marT="53001" marB="53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/>
                        <a:t>18 nov 2026 – 24 nov 2026</a:t>
                      </a:r>
                      <a:endParaRPr lang="es-CL" sz="1600" dirty="0"/>
                    </a:p>
                  </a:txBody>
                  <a:tcPr marL="106002" marR="106002" marT="53001" marB="5300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Imagen 5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A626624E-F581-25BB-5A62-285235711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786" y="5990628"/>
            <a:ext cx="3469486" cy="8673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5" name="Rectangle 164">
            <a:extLst>
              <a:ext uri="{FF2B5EF4-FFF2-40B4-BE49-F238E27FC236}">
                <a16:creationId xmlns:a16="http://schemas.microsoft.com/office/drawing/2014/main" id="{9C867835-A917-4A2B-8424-3AFAF7436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Freeform: Shape 166">
            <a:extLst>
              <a:ext uri="{FF2B5EF4-FFF2-40B4-BE49-F238E27FC236}">
                <a16:creationId xmlns:a16="http://schemas.microsoft.com/office/drawing/2014/main" id="{EED8D03E-F375-4E67-B932-FF9B007BB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344152" y="387180"/>
            <a:ext cx="3850317" cy="6538623"/>
          </a:xfrm>
          <a:custGeom>
            <a:avLst/>
            <a:gdLst>
              <a:gd name="connsiteX0" fmla="*/ 0 w 3850317"/>
              <a:gd name="connsiteY0" fmla="*/ 0 h 5978116"/>
              <a:gd name="connsiteX1" fmla="*/ 3850317 w 3850317"/>
              <a:gd name="connsiteY1" fmla="*/ 0 h 5978116"/>
              <a:gd name="connsiteX2" fmla="*/ 3840373 w 3850317"/>
              <a:gd name="connsiteY2" fmla="*/ 258313 h 5978116"/>
              <a:gd name="connsiteX3" fmla="*/ 3755448 w 3850317"/>
              <a:gd name="connsiteY3" fmla="*/ 1537847 h 5978116"/>
              <a:gd name="connsiteX4" fmla="*/ 3150490 w 3850317"/>
              <a:gd name="connsiteY4" fmla="*/ 3989537 h 5978116"/>
              <a:gd name="connsiteX5" fmla="*/ 3089544 w 3850317"/>
              <a:gd name="connsiteY5" fmla="*/ 3606200 h 5978116"/>
              <a:gd name="connsiteX6" fmla="*/ 2922635 w 3850317"/>
              <a:gd name="connsiteY6" fmla="*/ 4519351 h 5978116"/>
              <a:gd name="connsiteX7" fmla="*/ 2904628 w 3850317"/>
              <a:gd name="connsiteY7" fmla="*/ 4466023 h 5978116"/>
              <a:gd name="connsiteX8" fmla="*/ 2825329 w 3850317"/>
              <a:gd name="connsiteY8" fmla="*/ 4562983 h 5978116"/>
              <a:gd name="connsiteX9" fmla="*/ 2695127 w 3850317"/>
              <a:gd name="connsiteY9" fmla="*/ 4973329 h 5978116"/>
              <a:gd name="connsiteX10" fmla="*/ 2501208 w 3850317"/>
              <a:gd name="connsiteY10" fmla="*/ 4457366 h 5978116"/>
              <a:gd name="connsiteX11" fmla="*/ 2209291 w 3850317"/>
              <a:gd name="connsiteY11" fmla="*/ 5028388 h 5978116"/>
              <a:gd name="connsiteX12" fmla="*/ 2135532 w 3850317"/>
              <a:gd name="connsiteY12" fmla="*/ 5321344 h 5978116"/>
              <a:gd name="connsiteX13" fmla="*/ 2009139 w 3850317"/>
              <a:gd name="connsiteY13" fmla="*/ 4714655 h 5978116"/>
              <a:gd name="connsiteX14" fmla="*/ 1918759 w 3850317"/>
              <a:gd name="connsiteY14" fmla="*/ 4486454 h 5978116"/>
              <a:gd name="connsiteX15" fmla="*/ 1800676 w 3850317"/>
              <a:gd name="connsiteY15" fmla="*/ 4608346 h 5978116"/>
              <a:gd name="connsiteX16" fmla="*/ 1614721 w 3850317"/>
              <a:gd name="connsiteY16" fmla="*/ 5319612 h 5978116"/>
              <a:gd name="connsiteX17" fmla="*/ 1530921 w 3850317"/>
              <a:gd name="connsiteY17" fmla="*/ 5433540 h 5978116"/>
              <a:gd name="connsiteX18" fmla="*/ 1569705 w 3850317"/>
              <a:gd name="connsiteY18" fmla="*/ 4803650 h 5978116"/>
              <a:gd name="connsiteX19" fmla="*/ 1517416 w 3850317"/>
              <a:gd name="connsiteY19" fmla="*/ 4640204 h 5978116"/>
              <a:gd name="connsiteX20" fmla="*/ 1425997 w 3850317"/>
              <a:gd name="connsiteY20" fmla="*/ 4800187 h 5978116"/>
              <a:gd name="connsiteX21" fmla="*/ 1348083 w 3850317"/>
              <a:gd name="connsiteY21" fmla="*/ 5363245 h 5978116"/>
              <a:gd name="connsiteX22" fmla="*/ 1200566 w 3850317"/>
              <a:gd name="connsiteY22" fmla="*/ 5526691 h 5978116"/>
              <a:gd name="connsiteX23" fmla="*/ 1027770 w 3850317"/>
              <a:gd name="connsiteY23" fmla="*/ 5803718 h 5978116"/>
              <a:gd name="connsiteX24" fmla="*/ 892373 w 3850317"/>
              <a:gd name="connsiteY24" fmla="*/ 5604950 h 5978116"/>
              <a:gd name="connsiteX25" fmla="*/ 681487 w 3850317"/>
              <a:gd name="connsiteY25" fmla="*/ 5914528 h 5978116"/>
              <a:gd name="connsiteX26" fmla="*/ 414155 w 3850317"/>
              <a:gd name="connsiteY26" fmla="*/ 5817569 h 5978116"/>
              <a:gd name="connsiteX27" fmla="*/ 360135 w 3850317"/>
              <a:gd name="connsiteY27" fmla="*/ 5287062 h 5978116"/>
              <a:gd name="connsiteX28" fmla="*/ 281875 w 3850317"/>
              <a:gd name="connsiteY28" fmla="*/ 4677256 h 5978116"/>
              <a:gd name="connsiteX29" fmla="*/ 237897 w 3850317"/>
              <a:gd name="connsiteY29" fmla="*/ 4207696 h 5978116"/>
              <a:gd name="connsiteX30" fmla="*/ 145093 w 3850317"/>
              <a:gd name="connsiteY30" fmla="*/ 3878379 h 5978116"/>
              <a:gd name="connsiteX31" fmla="*/ 72373 w 3850317"/>
              <a:gd name="connsiteY31" fmla="*/ 2447189 h 5978116"/>
              <a:gd name="connsiteX32" fmla="*/ 0 w 3850317"/>
              <a:gd name="connsiteY32" fmla="*/ 0 h 597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50317" h="5978116">
                <a:moveTo>
                  <a:pt x="0" y="0"/>
                </a:moveTo>
                <a:lnTo>
                  <a:pt x="3850317" y="0"/>
                </a:lnTo>
                <a:lnTo>
                  <a:pt x="3840373" y="258313"/>
                </a:lnTo>
                <a:cubicBezTo>
                  <a:pt x="3816350" y="852957"/>
                  <a:pt x="3786959" y="1372106"/>
                  <a:pt x="3755448" y="1537847"/>
                </a:cubicBezTo>
                <a:cubicBezTo>
                  <a:pt x="3300085" y="3936555"/>
                  <a:pt x="3150490" y="3989537"/>
                  <a:pt x="3150490" y="3989537"/>
                </a:cubicBezTo>
                <a:cubicBezTo>
                  <a:pt x="3150490" y="3989537"/>
                  <a:pt x="3124172" y="3732940"/>
                  <a:pt x="3089544" y="3606200"/>
                </a:cubicBezTo>
                <a:cubicBezTo>
                  <a:pt x="3082618" y="3784537"/>
                  <a:pt x="2946529" y="4491302"/>
                  <a:pt x="2922635" y="4519351"/>
                </a:cubicBezTo>
                <a:cubicBezTo>
                  <a:pt x="2916749" y="4502729"/>
                  <a:pt x="2910515" y="4484030"/>
                  <a:pt x="2904628" y="4466023"/>
                </a:cubicBezTo>
                <a:cubicBezTo>
                  <a:pt x="2884890" y="4501344"/>
                  <a:pt x="2859958" y="4534241"/>
                  <a:pt x="2825329" y="4562983"/>
                </a:cubicBezTo>
                <a:cubicBezTo>
                  <a:pt x="2706208" y="4662020"/>
                  <a:pt x="2743260" y="4833430"/>
                  <a:pt x="2695127" y="4973329"/>
                </a:cubicBezTo>
                <a:cubicBezTo>
                  <a:pt x="2446495" y="4877408"/>
                  <a:pt x="2545186" y="4641589"/>
                  <a:pt x="2501208" y="4457366"/>
                </a:cubicBezTo>
                <a:cubicBezTo>
                  <a:pt x="2341225" y="4936277"/>
                  <a:pt x="2267120" y="4837932"/>
                  <a:pt x="2209291" y="5028388"/>
                </a:cubicBezTo>
                <a:cubicBezTo>
                  <a:pt x="2137610" y="5264900"/>
                  <a:pt x="2135532" y="5321344"/>
                  <a:pt x="2135532" y="5321344"/>
                </a:cubicBezTo>
                <a:cubicBezTo>
                  <a:pt x="2004983" y="5137467"/>
                  <a:pt x="2054502" y="4933506"/>
                  <a:pt x="2009139" y="4714655"/>
                </a:cubicBezTo>
                <a:cubicBezTo>
                  <a:pt x="1956503" y="4642281"/>
                  <a:pt x="1932264" y="4565753"/>
                  <a:pt x="1918759" y="4486454"/>
                </a:cubicBezTo>
                <a:cubicBezTo>
                  <a:pt x="1889671" y="4439359"/>
                  <a:pt x="1848463" y="4656479"/>
                  <a:pt x="1800676" y="4608346"/>
                </a:cubicBezTo>
                <a:cubicBezTo>
                  <a:pt x="1760507" y="4832391"/>
                  <a:pt x="1681208" y="5047087"/>
                  <a:pt x="1614721" y="5319612"/>
                </a:cubicBezTo>
                <a:cubicBezTo>
                  <a:pt x="1580786" y="5457780"/>
                  <a:pt x="1530574" y="5446352"/>
                  <a:pt x="1530921" y="5433540"/>
                </a:cubicBezTo>
                <a:cubicBezTo>
                  <a:pt x="1532998" y="5109418"/>
                  <a:pt x="1600177" y="5128464"/>
                  <a:pt x="1569705" y="4803650"/>
                </a:cubicBezTo>
                <a:cubicBezTo>
                  <a:pt x="1566242" y="4746167"/>
                  <a:pt x="1596022" y="4651631"/>
                  <a:pt x="1517416" y="4640204"/>
                </a:cubicBezTo>
                <a:cubicBezTo>
                  <a:pt x="1415608" y="4628430"/>
                  <a:pt x="1436385" y="4747898"/>
                  <a:pt x="1425997" y="4800187"/>
                </a:cubicBezTo>
                <a:cubicBezTo>
                  <a:pt x="1389291" y="5009342"/>
                  <a:pt x="1370938" y="5149241"/>
                  <a:pt x="1348083" y="5363245"/>
                </a:cubicBezTo>
                <a:cubicBezTo>
                  <a:pt x="1336655" y="5453625"/>
                  <a:pt x="1352931" y="5563743"/>
                  <a:pt x="1200566" y="5526691"/>
                </a:cubicBezTo>
                <a:cubicBezTo>
                  <a:pt x="1051664" y="5551623"/>
                  <a:pt x="1099105" y="5719570"/>
                  <a:pt x="1027770" y="5803718"/>
                </a:cubicBezTo>
                <a:cubicBezTo>
                  <a:pt x="945009" y="5758701"/>
                  <a:pt x="1003184" y="5640964"/>
                  <a:pt x="892373" y="5604950"/>
                </a:cubicBezTo>
                <a:cubicBezTo>
                  <a:pt x="925963" y="5772552"/>
                  <a:pt x="680448" y="5747619"/>
                  <a:pt x="681487" y="5914528"/>
                </a:cubicBezTo>
                <a:cubicBezTo>
                  <a:pt x="534662" y="6049233"/>
                  <a:pt x="467137" y="5947425"/>
                  <a:pt x="414155" y="5817569"/>
                </a:cubicBezTo>
                <a:cubicBezTo>
                  <a:pt x="348015" y="5648929"/>
                  <a:pt x="370177" y="5468515"/>
                  <a:pt x="360135" y="5287062"/>
                </a:cubicBezTo>
                <a:cubicBezTo>
                  <a:pt x="338319" y="5059207"/>
                  <a:pt x="278758" y="4907881"/>
                  <a:pt x="281875" y="4677256"/>
                </a:cubicBezTo>
                <a:cubicBezTo>
                  <a:pt x="237204" y="4527316"/>
                  <a:pt x="250017" y="4367332"/>
                  <a:pt x="237897" y="4207696"/>
                </a:cubicBezTo>
                <a:cubicBezTo>
                  <a:pt x="210194" y="3969452"/>
                  <a:pt x="176258" y="4119047"/>
                  <a:pt x="145093" y="3878379"/>
                </a:cubicBezTo>
                <a:cubicBezTo>
                  <a:pt x="114274" y="3641175"/>
                  <a:pt x="72720" y="2448920"/>
                  <a:pt x="72373" y="2447189"/>
                </a:cubicBezTo>
                <a:cubicBezTo>
                  <a:pt x="72720" y="2447189"/>
                  <a:pt x="12120" y="1233809"/>
                  <a:pt x="0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0" name="Google Shape;160;p11"/>
          <p:cNvSpPr txBox="1">
            <a:spLocks noGrp="1"/>
          </p:cNvSpPr>
          <p:nvPr>
            <p:ph type="title"/>
          </p:nvPr>
        </p:nvSpPr>
        <p:spPr>
          <a:xfrm>
            <a:off x="535387" y="2248263"/>
            <a:ext cx="3768917" cy="1606163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Costos por Fase 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A278C4DF-FB32-62F4-02E3-0001DB706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729517"/>
              </p:ext>
            </p:extLst>
          </p:nvPr>
        </p:nvGraphicFramePr>
        <p:xfrm>
          <a:off x="7074009" y="577488"/>
          <a:ext cx="4400408" cy="5132432"/>
        </p:xfrm>
        <a:graphic>
          <a:graphicData uri="http://schemas.openxmlformats.org/drawingml/2006/table">
            <a:tbl>
              <a:tblPr firstRow="1" bandRow="1">
                <a:tableStyleId>{A2D085DF-3E6F-4927-A1E1-BBA965F75032}</a:tableStyleId>
              </a:tblPr>
              <a:tblGrid>
                <a:gridCol w="2200204">
                  <a:extLst>
                    <a:ext uri="{9D8B030D-6E8A-4147-A177-3AD203B41FA5}">
                      <a16:colId xmlns:a16="http://schemas.microsoft.com/office/drawing/2014/main" val="2756109436"/>
                    </a:ext>
                  </a:extLst>
                </a:gridCol>
                <a:gridCol w="2200204">
                  <a:extLst>
                    <a:ext uri="{9D8B030D-6E8A-4147-A177-3AD203B41FA5}">
                      <a16:colId xmlns:a16="http://schemas.microsoft.com/office/drawing/2014/main" val="3871265279"/>
                    </a:ext>
                  </a:extLst>
                </a:gridCol>
              </a:tblGrid>
              <a:tr h="641554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b="1" dirty="0">
                          <a:effectLst/>
                          <a:latin typeface="Google Sans Text"/>
                        </a:rPr>
                        <a:t>Fase del Proyecto</a:t>
                      </a:r>
                      <a:endParaRPr lang="es-CL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b="1" dirty="0">
                          <a:effectLst/>
                          <a:latin typeface="Google Sans Text"/>
                        </a:rPr>
                        <a:t>Costo Directo (CLP)</a:t>
                      </a:r>
                      <a:endParaRPr lang="es-CL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421842284"/>
                  </a:ext>
                </a:extLst>
              </a:tr>
              <a:tr h="641554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b="1">
                          <a:effectLst/>
                          <a:latin typeface="Google Sans Text"/>
                        </a:rPr>
                        <a:t>Fase de Planificación</a:t>
                      </a:r>
                      <a:endParaRPr lang="es-CL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>
                          <a:effectLst/>
                          <a:latin typeface="Google Sans Text"/>
                        </a:rPr>
                        <a:t>$1.020.000 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962332156"/>
                  </a:ext>
                </a:extLst>
              </a:tr>
              <a:tr h="641554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b="1">
                          <a:effectLst/>
                          <a:latin typeface="Google Sans Text"/>
                        </a:rPr>
                        <a:t>Fase de Análisis y Diseño</a:t>
                      </a:r>
                      <a:endParaRPr lang="es-CL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dirty="0">
                          <a:effectLst/>
                          <a:latin typeface="Google Sans Text"/>
                        </a:rPr>
                        <a:t>$1.770.000 </a:t>
                      </a:r>
                    </a:p>
                  </a:txBody>
                  <a:tcPr marL="114300" marR="11430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051230"/>
                  </a:ext>
                </a:extLst>
              </a:tr>
              <a:tr h="641554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b="1" dirty="0">
                          <a:effectLst/>
                          <a:latin typeface="Google Sans Text"/>
                        </a:rPr>
                        <a:t>Fase de Desarrollo</a:t>
                      </a:r>
                      <a:endParaRPr lang="es-CL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>
                          <a:effectLst/>
                          <a:latin typeface="Google Sans Text"/>
                        </a:rPr>
                        <a:t>$6.060.000 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71331180"/>
                  </a:ext>
                </a:extLst>
              </a:tr>
              <a:tr h="641554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b="1">
                          <a:effectLst/>
                          <a:latin typeface="Google Sans Text"/>
                        </a:rPr>
                        <a:t>Fase de Pruebas y QA</a:t>
                      </a:r>
                      <a:endParaRPr lang="es-CL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>
                          <a:effectLst/>
                          <a:latin typeface="Google Sans Text"/>
                        </a:rPr>
                        <a:t>$2.445.000 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532024233"/>
                  </a:ext>
                </a:extLst>
              </a:tr>
              <a:tr h="641554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b="1">
                          <a:effectLst/>
                          <a:latin typeface="Google Sans Text"/>
                        </a:rPr>
                        <a:t>Fase de Implementación y Cierre</a:t>
                      </a:r>
                      <a:endParaRPr lang="es-CL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dirty="0">
                          <a:effectLst/>
                          <a:latin typeface="Google Sans Text"/>
                        </a:rPr>
                        <a:t>$1.215.000 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383177604"/>
                  </a:ext>
                </a:extLst>
              </a:tr>
              <a:tr h="641554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b="1">
                          <a:effectLst/>
                          <a:latin typeface="Google Sans Text"/>
                        </a:rPr>
                        <a:t>Costo Total Horas-Hombre:</a:t>
                      </a:r>
                      <a:endParaRPr lang="es-CL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b="1" dirty="0">
                          <a:effectLst/>
                          <a:latin typeface="Google Sans Text"/>
                        </a:rPr>
                        <a:t>$12.510.000</a:t>
                      </a:r>
                      <a:endParaRPr lang="es-CL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912242920"/>
                  </a:ext>
                </a:extLst>
              </a:tr>
              <a:tr h="641554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b="1">
                          <a:effectLst/>
                          <a:latin typeface="Google Sans Text"/>
                        </a:rPr>
                        <a:t>Precio Final Proyecto (con 60% margen):</a:t>
                      </a:r>
                      <a:endParaRPr lang="es-CL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s-CL" b="1" dirty="0">
                          <a:effectLst/>
                          <a:latin typeface="Google Sans Text"/>
                        </a:rPr>
                        <a:t>$20.016.000</a:t>
                      </a:r>
                      <a:endParaRPr lang="es-CL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52555529"/>
                  </a:ext>
                </a:extLst>
              </a:tr>
            </a:tbl>
          </a:graphicData>
        </a:graphic>
      </p:graphicFrame>
      <p:pic>
        <p:nvPicPr>
          <p:cNvPr id="9" name="Imagen 8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B754CC96-EC0F-F516-DAEA-B21DA3E76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786" y="5990628"/>
            <a:ext cx="3469486" cy="8673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3" name="Rectangle 17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6" name="Google Shape;166;p12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Tecnologías del Desarrollo</a:t>
            </a:r>
          </a:p>
        </p:txBody>
      </p:sp>
      <p:graphicFrame>
        <p:nvGraphicFramePr>
          <p:cNvPr id="169" name="Google Shape;167;p12">
            <a:extLst>
              <a:ext uri="{FF2B5EF4-FFF2-40B4-BE49-F238E27FC236}">
                <a16:creationId xmlns:a16="http://schemas.microsoft.com/office/drawing/2014/main" id="{03A9CC92-98FC-87AB-13C1-8C2FA2F47F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48839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Imagen 8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7C1A76A9-B671-9921-3DAD-DCE30E8565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2786" y="5990628"/>
            <a:ext cx="3469486" cy="8673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8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0" name="Rectangle 179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Google Shape;172;p13"/>
          <p:cNvSpPr txBox="1"/>
          <p:nvPr/>
        </p:nvSpPr>
        <p:spPr>
          <a:xfrm>
            <a:off x="6803409" y="762001"/>
            <a:ext cx="4156512" cy="170824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400"/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Conclusión  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74" name="Picture 173" descr="Plane in red circle">
            <a:extLst>
              <a:ext uri="{FF2B5EF4-FFF2-40B4-BE49-F238E27FC236}">
                <a16:creationId xmlns:a16="http://schemas.microsoft.com/office/drawing/2014/main" id="{C2AB6348-50ED-AAF5-D743-F01326ED2D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90" r="19288" b="1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5992243-3387-FC5F-7A99-021DBD63A0BA}"/>
              </a:ext>
            </a:extLst>
          </p:cNvPr>
          <p:cNvSpPr txBox="1"/>
          <p:nvPr/>
        </p:nvSpPr>
        <p:spPr>
          <a:xfrm>
            <a:off x="6803409" y="2470245"/>
            <a:ext cx="4156512" cy="3769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 desarrollo de la </a:t>
            </a:r>
            <a:r>
              <a:rPr lang="en-US"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Plataforma Web SkyWay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responde de manera integral a la necesidad de modernización operacional y comercial de la aerolínea. Mediante una arquitectura web modular en Java y PostgreSQL, el proyecto logra centralizar la experiencia del pasajero y la gestión interna. La automatización en la asignación de tripulación y el control de reservas eliminan los silos de información y previenen el overbooking, respaldados por una planificación rigurosa con un costo de desarrollo de </a:t>
            </a:r>
            <a:r>
              <a:rPr lang="en-US"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$12.510.000 CLP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entrega final proyectada para noviembre de 2026</a:t>
            </a:r>
          </a:p>
        </p:txBody>
      </p:sp>
      <p:pic>
        <p:nvPicPr>
          <p:cNvPr id="4" name="Imagen 3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32FCF079-C099-BA12-1155-9C1DF136B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464" y="-2"/>
            <a:ext cx="3469486" cy="8673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1303</Words>
  <Application>Microsoft Office PowerPoint</Application>
  <PresentationFormat>Panorámica</PresentationFormat>
  <Paragraphs>259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Google Sans Text</vt:lpstr>
      <vt:lpstr>Tema de Office</vt:lpstr>
      <vt:lpstr>Presentación Portafolio Titulo: “Plataforma Web Integral de Gestión Operacional y Comercial SkyWay”</vt:lpstr>
      <vt:lpstr>Presentación de PowerPoint</vt:lpstr>
      <vt:lpstr>Descripción del Proyecto</vt:lpstr>
      <vt:lpstr>Presentación de PowerPoint</vt:lpstr>
      <vt:lpstr>Alcances</vt:lpstr>
      <vt:lpstr>Usuarios</vt:lpstr>
      <vt:lpstr>Lista de Requerimientos - Funcionales </vt:lpstr>
      <vt:lpstr>Lista de Requerimientos –  No Funcionales </vt:lpstr>
      <vt:lpstr>Mockups del Sistema - Página inicial ( menú de inicio) </vt:lpstr>
      <vt:lpstr>Mockups del Sistema - Página de estado de vuelo en vivo</vt:lpstr>
      <vt:lpstr>Mockups del Sistema - Módulo de Check-in digital</vt:lpstr>
      <vt:lpstr>Mockups del Sistema - Módulo de ofertas exclusivas</vt:lpstr>
      <vt:lpstr>Mockups del Sistema - Módulo Inicio de sesión</vt:lpstr>
      <vt:lpstr>Mockups del Sistema - Módulo de registro de usuario</vt:lpstr>
      <vt:lpstr>Mockups del Sistema - Módulo de Administración: Gestión de vuelos</vt:lpstr>
      <vt:lpstr>Mockups del Sistema - Módulo de Administración: Gestión de Itinerarios </vt:lpstr>
      <vt:lpstr>Hitos Importantes </vt:lpstr>
      <vt:lpstr>Costos por Fase </vt:lpstr>
      <vt:lpstr>Tecnologías del Desarrollo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Sala_</dc:creator>
  <cp:lastModifiedBy>RENATO IGNACIO UBILLA PAREDES</cp:lastModifiedBy>
  <cp:revision>2</cp:revision>
  <dcterms:created xsi:type="dcterms:W3CDTF">2015-07-01T15:45:01Z</dcterms:created>
  <dcterms:modified xsi:type="dcterms:W3CDTF">2026-09-06T21:46:16Z</dcterms:modified>
</cp:coreProperties>
</file>